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Telegraf Medium" charset="1" panose="00000600000000000000"/>
      <p:regular r:id="rId17"/>
    </p:embeddedFont>
    <p:embeddedFont>
      <p:font typeface="Telegraf" charset="1" panose="00000500000000000000"/>
      <p:regular r:id="rId18"/>
    </p:embeddedFont>
    <p:embeddedFont>
      <p:font typeface="Helvetica World" charset="1" panose="020B0500040000020004"/>
      <p:regular r:id="rId19"/>
    </p:embeddedFont>
    <p:embeddedFont>
      <p:font typeface="Helvetica World Bold" charset="1" panose="020B0800040000020004"/>
      <p:regular r:id="rId20"/>
    </p:embeddedFont>
    <p:embeddedFont>
      <p:font typeface="Helvetica World Bold Italics" charset="1" panose="020B0800040000090004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jpe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7.png" Type="http://schemas.openxmlformats.org/officeDocument/2006/relationships/image"/><Relationship Id="rId8" Target="../media/image8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9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10.jpeg" Type="http://schemas.openxmlformats.org/officeDocument/2006/relationships/image"/><Relationship Id="rId7" Target="../media/image7.png" Type="http://schemas.openxmlformats.org/officeDocument/2006/relationships/image"/><Relationship Id="rId8" Target="../media/image8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11.jpeg" Type="http://schemas.openxmlformats.org/officeDocument/2006/relationships/image"/><Relationship Id="rId7" Target="../media/image12.jpe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13.jpe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jpeg" Type="http://schemas.openxmlformats.org/officeDocument/2006/relationships/image"/><Relationship Id="rId3" Target="../media/VAHDbmKO_8Q.mp4" Type="http://schemas.openxmlformats.org/officeDocument/2006/relationships/video"/><Relationship Id="rId4" Target="../media/VAHDbmKO_8Q.mp4" Type="http://schemas.microsoft.com/office/2007/relationships/media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jpeg" Type="http://schemas.openxmlformats.org/officeDocument/2006/relationships/image"/><Relationship Id="rId3" Target="../media/VAHDbgSGegQ.mp4" Type="http://schemas.openxmlformats.org/officeDocument/2006/relationships/video"/><Relationship Id="rId4" Target="../media/VAHDbgSGegQ.mp4" Type="http://schemas.microsoft.com/office/2007/relationships/media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16.jpeg" Type="http://schemas.openxmlformats.org/officeDocument/2006/relationships/image"/><Relationship Id="rId7" Target="../media/image7.png" Type="http://schemas.openxmlformats.org/officeDocument/2006/relationships/image"/><Relationship Id="rId8" Target="../media/image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050573" y="2741611"/>
            <a:ext cx="7208727" cy="6516689"/>
            <a:chOff x="0" y="0"/>
            <a:chExt cx="6350000" cy="5740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51270" cy="5741670"/>
            </a:xfrm>
            <a:custGeom>
              <a:avLst/>
              <a:gdLst/>
              <a:ahLst/>
              <a:cxnLst/>
              <a:rect r="r" b="b" t="t" l="l"/>
              <a:pathLst>
                <a:path h="5741670" w="6351270">
                  <a:moveTo>
                    <a:pt x="0" y="542290"/>
                  </a:moveTo>
                  <a:lnTo>
                    <a:pt x="0" y="2392680"/>
                  </a:lnTo>
                  <a:cubicBezTo>
                    <a:pt x="0" y="2691130"/>
                    <a:pt x="242570" y="2933700"/>
                    <a:pt x="542290" y="2933700"/>
                  </a:cubicBezTo>
                  <a:lnTo>
                    <a:pt x="1148080" y="2933700"/>
                  </a:lnTo>
                  <a:cubicBezTo>
                    <a:pt x="1447800" y="2933700"/>
                    <a:pt x="1690370" y="3176270"/>
                    <a:pt x="1690370" y="3475990"/>
                  </a:cubicBezTo>
                  <a:lnTo>
                    <a:pt x="1690370" y="5199380"/>
                  </a:lnTo>
                  <a:cubicBezTo>
                    <a:pt x="1690370" y="5499100"/>
                    <a:pt x="1932940" y="5741670"/>
                    <a:pt x="2232660" y="5741670"/>
                  </a:cubicBezTo>
                  <a:lnTo>
                    <a:pt x="3599180" y="5741670"/>
                  </a:lnTo>
                  <a:cubicBezTo>
                    <a:pt x="3735070" y="5741670"/>
                    <a:pt x="3867150" y="5689600"/>
                    <a:pt x="3967480" y="5598160"/>
                  </a:cubicBezTo>
                  <a:lnTo>
                    <a:pt x="6177280" y="3553460"/>
                  </a:lnTo>
                  <a:cubicBezTo>
                    <a:pt x="6287770" y="3450590"/>
                    <a:pt x="6351270" y="3307080"/>
                    <a:pt x="6351270" y="3155950"/>
                  </a:cubicBezTo>
                  <a:lnTo>
                    <a:pt x="6351270" y="542290"/>
                  </a:lnTo>
                  <a:cubicBezTo>
                    <a:pt x="6350000" y="242570"/>
                    <a:pt x="6107430" y="0"/>
                    <a:pt x="5807710" y="0"/>
                  </a:cubicBezTo>
                  <a:lnTo>
                    <a:pt x="542290" y="0"/>
                  </a:lnTo>
                  <a:cubicBezTo>
                    <a:pt x="242570" y="0"/>
                    <a:pt x="0" y="242570"/>
                    <a:pt x="0" y="542290"/>
                  </a:cubicBezTo>
                  <a:close/>
                </a:path>
              </a:pathLst>
            </a:custGeom>
            <a:blipFill>
              <a:blip r:embed="rId2"/>
              <a:stretch>
                <a:fillRect l="0" t="-22114" r="-65383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786775" y="4068590"/>
            <a:ext cx="2211675" cy="2211675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A6A6A6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-404923" y="-148528"/>
            <a:ext cx="19097845" cy="1177228"/>
            <a:chOff x="0" y="0"/>
            <a:chExt cx="5029885" cy="31005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029885" cy="310052"/>
            </a:xfrm>
            <a:custGeom>
              <a:avLst/>
              <a:gdLst/>
              <a:ahLst/>
              <a:cxnLst/>
              <a:rect r="r" b="b" t="t" l="l"/>
              <a:pathLst>
                <a:path h="310052" w="5029885">
                  <a:moveTo>
                    <a:pt x="0" y="0"/>
                  </a:moveTo>
                  <a:lnTo>
                    <a:pt x="5029885" y="0"/>
                  </a:lnTo>
                  <a:lnTo>
                    <a:pt x="5029885" y="310052"/>
                  </a:lnTo>
                  <a:lnTo>
                    <a:pt x="0" y="310052"/>
                  </a:lnTo>
                  <a:close/>
                </a:path>
              </a:pathLst>
            </a:custGeom>
            <a:solidFill>
              <a:srgbClr val="1B1B1B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5029885" cy="3481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203180" y="7088698"/>
            <a:ext cx="47625" cy="1405503"/>
            <a:chOff x="0" y="0"/>
            <a:chExt cx="12543" cy="37017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543" cy="370174"/>
            </a:xfrm>
            <a:custGeom>
              <a:avLst/>
              <a:gdLst/>
              <a:ahLst/>
              <a:cxnLst/>
              <a:rect r="r" b="b" t="t" l="l"/>
              <a:pathLst>
                <a:path h="370174" w="12543">
                  <a:moveTo>
                    <a:pt x="6272" y="0"/>
                  </a:moveTo>
                  <a:lnTo>
                    <a:pt x="6272" y="0"/>
                  </a:lnTo>
                  <a:cubicBezTo>
                    <a:pt x="7935" y="0"/>
                    <a:pt x="9530" y="661"/>
                    <a:pt x="10706" y="1837"/>
                  </a:cubicBezTo>
                  <a:cubicBezTo>
                    <a:pt x="11882" y="3013"/>
                    <a:pt x="12543" y="4608"/>
                    <a:pt x="12543" y="6272"/>
                  </a:cubicBezTo>
                  <a:lnTo>
                    <a:pt x="12543" y="363902"/>
                  </a:lnTo>
                  <a:cubicBezTo>
                    <a:pt x="12543" y="365565"/>
                    <a:pt x="11882" y="367161"/>
                    <a:pt x="10706" y="368337"/>
                  </a:cubicBezTo>
                  <a:cubicBezTo>
                    <a:pt x="9530" y="369513"/>
                    <a:pt x="7935" y="370174"/>
                    <a:pt x="6272" y="370174"/>
                  </a:cubicBezTo>
                  <a:lnTo>
                    <a:pt x="6272" y="370174"/>
                  </a:lnTo>
                  <a:cubicBezTo>
                    <a:pt x="4608" y="370174"/>
                    <a:pt x="3013" y="369513"/>
                    <a:pt x="1837" y="368337"/>
                  </a:cubicBezTo>
                  <a:cubicBezTo>
                    <a:pt x="661" y="367161"/>
                    <a:pt x="0" y="365565"/>
                    <a:pt x="0" y="363902"/>
                  </a:cubicBezTo>
                  <a:lnTo>
                    <a:pt x="0" y="6272"/>
                  </a:lnTo>
                  <a:cubicBezTo>
                    <a:pt x="0" y="4608"/>
                    <a:pt x="661" y="3013"/>
                    <a:pt x="1837" y="1837"/>
                  </a:cubicBezTo>
                  <a:cubicBezTo>
                    <a:pt x="3013" y="661"/>
                    <a:pt x="4608" y="0"/>
                    <a:pt x="6272" y="0"/>
                  </a:cubicBezTo>
                  <a:close/>
                </a:path>
              </a:pathLst>
            </a:custGeom>
            <a:solidFill>
              <a:srgbClr val="A6A6A6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2543" cy="4082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028700" y="4159309"/>
            <a:ext cx="9021873" cy="19038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64"/>
              </a:lnSpc>
              <a:spcBef>
                <a:spcPct val="0"/>
              </a:spcBef>
            </a:pPr>
            <a:r>
              <a:rPr lang="en-US" b="true" sz="10546" spc="-717">
                <a:solidFill>
                  <a:srgbClr val="1B1B1B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Seedance 2 .0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26992" y="7105650"/>
            <a:ext cx="3479549" cy="1333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3" indent="-302256" lvl="1">
              <a:lnSpc>
                <a:spcPts val="3359"/>
              </a:lnSpc>
              <a:buFont typeface="Arial"/>
              <a:buChar char="•"/>
            </a:pPr>
            <a:r>
              <a:rPr lang="en-US" sz="2799" spc="-83">
                <a:solidFill>
                  <a:srgbClr val="1B1B1B"/>
                </a:solidFill>
                <a:latin typeface="Telegraf"/>
                <a:ea typeface="Telegraf"/>
                <a:cs typeface="Telegraf"/>
                <a:sym typeface="Telegraf"/>
              </a:rPr>
              <a:t>Shivani Kinagi </a:t>
            </a:r>
          </a:p>
          <a:p>
            <a:pPr algn="l" marL="604513" indent="-302256" lvl="1">
              <a:lnSpc>
                <a:spcPts val="3359"/>
              </a:lnSpc>
              <a:buFont typeface="Arial"/>
              <a:buChar char="•"/>
            </a:pPr>
            <a:r>
              <a:rPr lang="en-US" sz="2799" spc="-83">
                <a:solidFill>
                  <a:srgbClr val="1B1B1B"/>
                </a:solidFill>
                <a:latin typeface="Telegraf"/>
                <a:ea typeface="Telegraf"/>
                <a:cs typeface="Telegraf"/>
                <a:sym typeface="Telegraf"/>
              </a:rPr>
              <a:t>Sayyam Jain</a:t>
            </a:r>
          </a:p>
          <a:p>
            <a:pPr algn="l" marL="604513" indent="-302256" lvl="1">
              <a:lnSpc>
                <a:spcPts val="3359"/>
              </a:lnSpc>
              <a:buFont typeface="Arial"/>
              <a:buChar char="•"/>
            </a:pPr>
            <a:r>
              <a:rPr lang="en-US" sz="2799" spc="-83">
                <a:solidFill>
                  <a:srgbClr val="1B1B1B"/>
                </a:solidFill>
                <a:latin typeface="Telegraf"/>
                <a:ea typeface="Telegraf"/>
                <a:cs typeface="Telegraf"/>
                <a:sym typeface="Telegraf"/>
              </a:rPr>
              <a:t>Janhvi Saste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49958" y="5836646"/>
            <a:ext cx="5636817" cy="658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80"/>
              </a:lnSpc>
              <a:spcBef>
                <a:spcPct val="0"/>
              </a:spcBef>
            </a:pPr>
            <a:r>
              <a:rPr lang="en-US" sz="3700" spc="-240">
                <a:solidFill>
                  <a:srgbClr val="A6A6A6"/>
                </a:solidFill>
                <a:latin typeface="Telegraf"/>
                <a:ea typeface="Telegraf"/>
                <a:cs typeface="Telegraf"/>
                <a:sym typeface="Telegraf"/>
              </a:rPr>
              <a:t>AI video generation model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04923" y="-148528"/>
            <a:ext cx="19097845" cy="1177228"/>
            <a:chOff x="0" y="0"/>
            <a:chExt cx="5029885" cy="31005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29885" cy="310052"/>
            </a:xfrm>
            <a:custGeom>
              <a:avLst/>
              <a:gdLst/>
              <a:ahLst/>
              <a:cxnLst/>
              <a:rect r="r" b="b" t="t" l="l"/>
              <a:pathLst>
                <a:path h="310052" w="5029885">
                  <a:moveTo>
                    <a:pt x="0" y="0"/>
                  </a:moveTo>
                  <a:lnTo>
                    <a:pt x="5029885" y="0"/>
                  </a:lnTo>
                  <a:lnTo>
                    <a:pt x="5029885" y="310052"/>
                  </a:lnTo>
                  <a:lnTo>
                    <a:pt x="0" y="310052"/>
                  </a:lnTo>
                  <a:close/>
                </a:path>
              </a:pathLst>
            </a:custGeom>
            <a:solidFill>
              <a:srgbClr val="1B1B1B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029885" cy="3481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997203" y="425242"/>
            <a:ext cx="262097" cy="174622"/>
          </a:xfrm>
          <a:custGeom>
            <a:avLst/>
            <a:gdLst/>
            <a:ahLst/>
            <a:cxnLst/>
            <a:rect r="r" b="b" t="t" l="l"/>
            <a:pathLst>
              <a:path h="174622" w="262097">
                <a:moveTo>
                  <a:pt x="0" y="0"/>
                </a:moveTo>
                <a:lnTo>
                  <a:pt x="262097" y="0"/>
                </a:lnTo>
                <a:lnTo>
                  <a:pt x="262097" y="174622"/>
                </a:lnTo>
                <a:lnTo>
                  <a:pt x="0" y="1746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028700" y="1849129"/>
            <a:ext cx="5259030" cy="7409171"/>
            <a:chOff x="0" y="0"/>
            <a:chExt cx="4507230" cy="6350000"/>
          </a:xfrm>
        </p:grpSpPr>
        <p:sp>
          <p:nvSpPr>
            <p:cNvPr name="Freeform 7" id="7"/>
            <p:cNvSpPr/>
            <p:nvPr/>
          </p:nvSpPr>
          <p:spPr>
            <a:xfrm flipH="true" flipV="false" rot="0">
              <a:off x="0" y="0"/>
              <a:ext cx="450596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505960">
                  <a:moveTo>
                    <a:pt x="4505960" y="561340"/>
                  </a:moveTo>
                  <a:lnTo>
                    <a:pt x="4505960" y="3961130"/>
                  </a:lnTo>
                  <a:cubicBezTo>
                    <a:pt x="4505960" y="4272280"/>
                    <a:pt x="4253230" y="4523740"/>
                    <a:pt x="3943350" y="4522470"/>
                  </a:cubicBezTo>
                  <a:cubicBezTo>
                    <a:pt x="3632200" y="4521200"/>
                    <a:pt x="3379470" y="4773930"/>
                    <a:pt x="3380740" y="5085080"/>
                  </a:cubicBezTo>
                  <a:lnTo>
                    <a:pt x="3382010" y="5787390"/>
                  </a:lnTo>
                  <a:cubicBezTo>
                    <a:pt x="3382010" y="6098540"/>
                    <a:pt x="3130550" y="6350000"/>
                    <a:pt x="2820670" y="6350000"/>
                  </a:cubicBezTo>
                  <a:lnTo>
                    <a:pt x="561340" y="6350000"/>
                  </a:lnTo>
                  <a:cubicBezTo>
                    <a:pt x="251460" y="6350000"/>
                    <a:pt x="0" y="6098540"/>
                    <a:pt x="0" y="5788660"/>
                  </a:cubicBezTo>
                  <a:lnTo>
                    <a:pt x="0" y="2679700"/>
                  </a:lnTo>
                  <a:cubicBezTo>
                    <a:pt x="0" y="2494280"/>
                    <a:pt x="91440" y="2321560"/>
                    <a:pt x="243840" y="2217420"/>
                  </a:cubicBezTo>
                  <a:lnTo>
                    <a:pt x="3321050" y="99060"/>
                  </a:lnTo>
                  <a:cubicBezTo>
                    <a:pt x="3415030" y="34290"/>
                    <a:pt x="3525520" y="0"/>
                    <a:pt x="3639820" y="0"/>
                  </a:cubicBezTo>
                  <a:lnTo>
                    <a:pt x="3944620" y="0"/>
                  </a:lnTo>
                  <a:cubicBezTo>
                    <a:pt x="4254500" y="0"/>
                    <a:pt x="4505960" y="251460"/>
                    <a:pt x="4505960" y="561340"/>
                  </a:cubicBezTo>
                  <a:close/>
                </a:path>
              </a:pathLst>
            </a:custGeom>
            <a:blipFill>
              <a:blip r:embed="rId4"/>
              <a:stretch>
                <a:fillRect l="0" t="-3253" r="0" b="-3253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-5400000">
            <a:off x="7556982" y="1703949"/>
            <a:ext cx="47625" cy="3126411"/>
            <a:chOff x="0" y="0"/>
            <a:chExt cx="12543" cy="82341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543" cy="823417"/>
            </a:xfrm>
            <a:custGeom>
              <a:avLst/>
              <a:gdLst/>
              <a:ahLst/>
              <a:cxnLst/>
              <a:rect r="r" b="b" t="t" l="l"/>
              <a:pathLst>
                <a:path h="823417" w="12543">
                  <a:moveTo>
                    <a:pt x="6272" y="0"/>
                  </a:moveTo>
                  <a:lnTo>
                    <a:pt x="6272" y="0"/>
                  </a:lnTo>
                  <a:cubicBezTo>
                    <a:pt x="7935" y="0"/>
                    <a:pt x="9530" y="661"/>
                    <a:pt x="10706" y="1837"/>
                  </a:cubicBezTo>
                  <a:cubicBezTo>
                    <a:pt x="11882" y="3013"/>
                    <a:pt x="12543" y="4608"/>
                    <a:pt x="12543" y="6272"/>
                  </a:cubicBezTo>
                  <a:lnTo>
                    <a:pt x="12543" y="817145"/>
                  </a:lnTo>
                  <a:cubicBezTo>
                    <a:pt x="12543" y="818809"/>
                    <a:pt x="11882" y="820404"/>
                    <a:pt x="10706" y="821580"/>
                  </a:cubicBezTo>
                  <a:cubicBezTo>
                    <a:pt x="9530" y="822756"/>
                    <a:pt x="7935" y="823417"/>
                    <a:pt x="6272" y="823417"/>
                  </a:cubicBezTo>
                  <a:lnTo>
                    <a:pt x="6272" y="823417"/>
                  </a:lnTo>
                  <a:cubicBezTo>
                    <a:pt x="4608" y="823417"/>
                    <a:pt x="3013" y="822756"/>
                    <a:pt x="1837" y="821580"/>
                  </a:cubicBezTo>
                  <a:cubicBezTo>
                    <a:pt x="661" y="820404"/>
                    <a:pt x="0" y="818809"/>
                    <a:pt x="0" y="817145"/>
                  </a:cubicBezTo>
                  <a:lnTo>
                    <a:pt x="0" y="6272"/>
                  </a:lnTo>
                  <a:cubicBezTo>
                    <a:pt x="0" y="4608"/>
                    <a:pt x="661" y="3013"/>
                    <a:pt x="1837" y="1837"/>
                  </a:cubicBezTo>
                  <a:cubicBezTo>
                    <a:pt x="3013" y="661"/>
                    <a:pt x="4608" y="0"/>
                    <a:pt x="6272" y="0"/>
                  </a:cubicBezTo>
                  <a:close/>
                </a:path>
              </a:pathLst>
            </a:custGeom>
            <a:solidFill>
              <a:srgbClr val="A6A6A6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2543" cy="8615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028700" y="9085866"/>
            <a:ext cx="222105" cy="172434"/>
          </a:xfrm>
          <a:custGeom>
            <a:avLst/>
            <a:gdLst/>
            <a:ahLst/>
            <a:cxnLst/>
            <a:rect r="r" b="b" t="t" l="l"/>
            <a:pathLst>
              <a:path h="172434" w="222105">
                <a:moveTo>
                  <a:pt x="0" y="0"/>
                </a:moveTo>
                <a:lnTo>
                  <a:pt x="222105" y="0"/>
                </a:lnTo>
                <a:lnTo>
                  <a:pt x="222105" y="172434"/>
                </a:lnTo>
                <a:lnTo>
                  <a:pt x="0" y="17243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6360900" y="2331240"/>
            <a:ext cx="636303" cy="636303"/>
          </a:xfrm>
          <a:custGeom>
            <a:avLst/>
            <a:gdLst/>
            <a:ahLst/>
            <a:cxnLst/>
            <a:rect r="r" b="b" t="t" l="l"/>
            <a:pathLst>
              <a:path h="636303" w="636303">
                <a:moveTo>
                  <a:pt x="0" y="0"/>
                </a:moveTo>
                <a:lnTo>
                  <a:pt x="636303" y="0"/>
                </a:lnTo>
                <a:lnTo>
                  <a:pt x="636303" y="636303"/>
                </a:lnTo>
                <a:lnTo>
                  <a:pt x="0" y="63630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8429227" y="4097650"/>
            <a:ext cx="8830073" cy="2723642"/>
            <a:chOff x="0" y="0"/>
            <a:chExt cx="2188557" cy="67506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88557" cy="675062"/>
            </a:xfrm>
            <a:custGeom>
              <a:avLst/>
              <a:gdLst/>
              <a:ahLst/>
              <a:cxnLst/>
              <a:rect r="r" b="b" t="t" l="l"/>
              <a:pathLst>
                <a:path h="675062" w="2188557">
                  <a:moveTo>
                    <a:pt x="26303" y="0"/>
                  </a:moveTo>
                  <a:lnTo>
                    <a:pt x="2162254" y="0"/>
                  </a:lnTo>
                  <a:cubicBezTo>
                    <a:pt x="2169230" y="0"/>
                    <a:pt x="2175920" y="2771"/>
                    <a:pt x="2180853" y="7704"/>
                  </a:cubicBezTo>
                  <a:cubicBezTo>
                    <a:pt x="2185786" y="12637"/>
                    <a:pt x="2188557" y="19327"/>
                    <a:pt x="2188557" y="26303"/>
                  </a:cubicBezTo>
                  <a:lnTo>
                    <a:pt x="2188557" y="648759"/>
                  </a:lnTo>
                  <a:cubicBezTo>
                    <a:pt x="2188557" y="663285"/>
                    <a:pt x="2176781" y="675062"/>
                    <a:pt x="2162254" y="675062"/>
                  </a:cubicBezTo>
                  <a:lnTo>
                    <a:pt x="26303" y="675062"/>
                  </a:lnTo>
                  <a:cubicBezTo>
                    <a:pt x="11776" y="675062"/>
                    <a:pt x="0" y="663285"/>
                    <a:pt x="0" y="648759"/>
                  </a:cubicBezTo>
                  <a:lnTo>
                    <a:pt x="0" y="26303"/>
                  </a:lnTo>
                  <a:cubicBezTo>
                    <a:pt x="0" y="11776"/>
                    <a:pt x="11776" y="0"/>
                    <a:pt x="26303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A6A6A6"/>
              </a:solidFill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2188557" cy="7131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8827594" y="4327684"/>
            <a:ext cx="8047013" cy="2252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80"/>
              </a:lnSpc>
            </a:pPr>
            <a:r>
              <a:rPr lang="en-US" sz="2344" spc="-70">
                <a:solidFill>
                  <a:srgbClr val="1B1B1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Seedance 2.0</a:t>
            </a:r>
            <a:r>
              <a:rPr lang="en-US" sz="2344" spc="-70">
                <a:solidFill>
                  <a:srgbClr val="1B1B1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is an advanced AI video generation model capable of producing highly realistic cinematic videos from text prompts or images. </a:t>
            </a:r>
          </a:p>
          <a:p>
            <a:pPr algn="l">
              <a:lnSpc>
                <a:spcPts val="3680"/>
              </a:lnSpc>
            </a:pPr>
            <a:r>
              <a:rPr lang="en-US" sz="2344" spc="-70">
                <a:solidFill>
                  <a:srgbClr val="1B1B1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Instead of filming a real scene with cameras and actors, the AI synthesizes the entire video using deep learning models.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827594" y="7193751"/>
            <a:ext cx="8431706" cy="12406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5"/>
              </a:lnSpc>
            </a:pPr>
            <a:r>
              <a:rPr lang="en-US" sz="1886">
                <a:solidFill>
                  <a:srgbClr val="1B1B1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Seedance 2.0 was developed by </a:t>
            </a:r>
            <a:r>
              <a:rPr lang="en-US" sz="1886" b="true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ByteDance</a:t>
            </a:r>
            <a:r>
              <a:rPr lang="en-US" sz="1886">
                <a:solidFill>
                  <a:srgbClr val="1B1B1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, the company behind the popular social platform TikTok.</a:t>
            </a:r>
          </a:p>
          <a:p>
            <a:pPr algn="l">
              <a:lnSpc>
                <a:spcPts val="3245"/>
              </a:lnSpc>
            </a:pPr>
            <a:r>
              <a:rPr lang="en-US" sz="1886">
                <a:solidFill>
                  <a:srgbClr val="1B1B1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Seedance 2.0 is estimated to have </a:t>
            </a:r>
            <a:r>
              <a:rPr lang="en-US" sz="1886" b="true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~1 trillion parameters</a:t>
            </a:r>
            <a:r>
              <a:rPr lang="en-US" sz="1886">
                <a:solidFill>
                  <a:srgbClr val="1B1B1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017589" y="2171177"/>
            <a:ext cx="8809458" cy="826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39"/>
              </a:lnSpc>
              <a:spcBef>
                <a:spcPct val="0"/>
              </a:spcBef>
            </a:pPr>
            <a:r>
              <a:rPr lang="en-US" sz="4599" spc="-298">
                <a:solidFill>
                  <a:srgbClr val="A6A6A6"/>
                </a:solidFill>
                <a:latin typeface="Telegraf"/>
                <a:ea typeface="Telegraf"/>
                <a:cs typeface="Telegraf"/>
                <a:sym typeface="Telegraf"/>
              </a:rPr>
              <a:t>Seedance 2.0 : Introduction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3663598" y="5744008"/>
            <a:ext cx="4504171" cy="3930837"/>
            <a:chOff x="0" y="0"/>
            <a:chExt cx="1123625" cy="9806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123625" cy="980600"/>
            </a:xfrm>
            <a:custGeom>
              <a:avLst/>
              <a:gdLst/>
              <a:ahLst/>
              <a:cxnLst/>
              <a:rect r="r" b="b" t="t" l="l"/>
              <a:pathLst>
                <a:path h="980600" w="1123625">
                  <a:moveTo>
                    <a:pt x="51565" y="0"/>
                  </a:moveTo>
                  <a:lnTo>
                    <a:pt x="1072060" y="0"/>
                  </a:lnTo>
                  <a:cubicBezTo>
                    <a:pt x="1100539" y="0"/>
                    <a:pt x="1123625" y="23086"/>
                    <a:pt x="1123625" y="51565"/>
                  </a:cubicBezTo>
                  <a:lnTo>
                    <a:pt x="1123625" y="929035"/>
                  </a:lnTo>
                  <a:cubicBezTo>
                    <a:pt x="1123625" y="957513"/>
                    <a:pt x="1100539" y="980600"/>
                    <a:pt x="1072060" y="980600"/>
                  </a:cubicBezTo>
                  <a:lnTo>
                    <a:pt x="51565" y="980600"/>
                  </a:lnTo>
                  <a:cubicBezTo>
                    <a:pt x="23086" y="980600"/>
                    <a:pt x="0" y="957513"/>
                    <a:pt x="0" y="929035"/>
                  </a:cubicBezTo>
                  <a:lnTo>
                    <a:pt x="0" y="51565"/>
                  </a:lnTo>
                  <a:cubicBezTo>
                    <a:pt x="0" y="23086"/>
                    <a:pt x="23086" y="0"/>
                    <a:pt x="51565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A6A6A6"/>
              </a:solidFill>
              <a:prstDash val="solid"/>
              <a:round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1123625" cy="1018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4085932" y="6513064"/>
            <a:ext cx="3659503" cy="2849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61"/>
              </a:lnSpc>
            </a:pPr>
            <a:r>
              <a:rPr lang="en-US" sz="1811" spc="-54">
                <a:solidFill>
                  <a:srgbClr val="1B1B1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Seedance 2.0 converts natural language descriptions or input images into short video clips.</a:t>
            </a:r>
          </a:p>
          <a:p>
            <a:pPr algn="just">
              <a:lnSpc>
                <a:spcPts val="2861"/>
              </a:lnSpc>
            </a:pPr>
            <a:r>
              <a:rPr lang="en-US" sz="1811" spc="-54">
                <a:solidFill>
                  <a:srgbClr val="1B1B1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Generates Output in :  </a:t>
            </a:r>
          </a:p>
          <a:p>
            <a:pPr algn="just" marL="391036" indent="-195518" lvl="1">
              <a:lnSpc>
                <a:spcPts val="2861"/>
              </a:lnSpc>
              <a:buFont typeface="Arial"/>
              <a:buChar char="•"/>
            </a:pPr>
            <a:r>
              <a:rPr lang="en-US" sz="1811" spc="-54">
                <a:solidFill>
                  <a:srgbClr val="1B1B1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720p–4K quality clips</a:t>
            </a:r>
          </a:p>
          <a:p>
            <a:pPr algn="just" marL="391036" indent="-195518" lvl="1">
              <a:lnSpc>
                <a:spcPts val="2861"/>
              </a:lnSpc>
              <a:buFont typeface="Arial"/>
              <a:buChar char="•"/>
            </a:pPr>
            <a:r>
              <a:rPr lang="en-US" sz="1811" spc="-54">
                <a:solidFill>
                  <a:srgbClr val="1B1B1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realistic motion</a:t>
            </a:r>
          </a:p>
          <a:p>
            <a:pPr algn="just" marL="391036" indent="-195518" lvl="1">
              <a:lnSpc>
                <a:spcPts val="2861"/>
              </a:lnSpc>
              <a:buFont typeface="Arial"/>
              <a:buChar char="•"/>
            </a:pPr>
            <a:r>
              <a:rPr lang="en-US" sz="1811" spc="-54">
                <a:solidFill>
                  <a:srgbClr val="1B1B1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film-like camera effects</a:t>
            </a:r>
          </a:p>
          <a:p>
            <a:pPr algn="just" marL="391036" indent="-195518" lvl="1">
              <a:lnSpc>
                <a:spcPts val="2861"/>
              </a:lnSpc>
              <a:buFont typeface="Arial"/>
              <a:buChar char="•"/>
            </a:pPr>
            <a:r>
              <a:rPr lang="en-US" sz="1811" spc="-54">
                <a:solidFill>
                  <a:srgbClr val="1B1B1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physics-aware movement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4264665" y="5995634"/>
            <a:ext cx="3302037" cy="3715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0"/>
              </a:lnSpc>
            </a:pPr>
            <a:r>
              <a:rPr lang="en-US" b="true" sz="2217" i="true" spc="-66">
                <a:solidFill>
                  <a:srgbClr val="1B1B1B"/>
                </a:solidFill>
                <a:latin typeface="Helvetica World Bold Italics"/>
                <a:ea typeface="Helvetica World Bold Italics"/>
                <a:cs typeface="Helvetica World Bold Italics"/>
                <a:sym typeface="Helvetica World Bold Italics"/>
              </a:rPr>
              <a:t>What Seedance 2.0 Does</a:t>
            </a:r>
          </a:p>
        </p:txBody>
      </p:sp>
      <p:sp>
        <p:nvSpPr>
          <p:cNvPr name="Freeform 24" id="24"/>
          <p:cNvSpPr/>
          <p:nvPr/>
        </p:nvSpPr>
        <p:spPr>
          <a:xfrm flipH="true" flipV="true" rot="0">
            <a:off x="7567305" y="4097650"/>
            <a:ext cx="222105" cy="172434"/>
          </a:xfrm>
          <a:custGeom>
            <a:avLst/>
            <a:gdLst/>
            <a:ahLst/>
            <a:cxnLst/>
            <a:rect r="r" b="b" t="t" l="l"/>
            <a:pathLst>
              <a:path h="172434" w="222105">
                <a:moveTo>
                  <a:pt x="222105" y="172434"/>
                </a:moveTo>
                <a:lnTo>
                  <a:pt x="0" y="172434"/>
                </a:lnTo>
                <a:lnTo>
                  <a:pt x="0" y="0"/>
                </a:lnTo>
                <a:lnTo>
                  <a:pt x="222105" y="0"/>
                </a:lnTo>
                <a:lnTo>
                  <a:pt x="222105" y="172434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5" id="25"/>
          <p:cNvGrpSpPr/>
          <p:nvPr/>
        </p:nvGrpSpPr>
        <p:grpSpPr>
          <a:xfrm rot="0">
            <a:off x="8631766" y="7289001"/>
            <a:ext cx="47625" cy="1197700"/>
            <a:chOff x="0" y="0"/>
            <a:chExt cx="12543" cy="31544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2543" cy="315444"/>
            </a:xfrm>
            <a:custGeom>
              <a:avLst/>
              <a:gdLst/>
              <a:ahLst/>
              <a:cxnLst/>
              <a:rect r="r" b="b" t="t" l="l"/>
              <a:pathLst>
                <a:path h="315444" w="12543">
                  <a:moveTo>
                    <a:pt x="6272" y="0"/>
                  </a:moveTo>
                  <a:lnTo>
                    <a:pt x="6272" y="0"/>
                  </a:lnTo>
                  <a:cubicBezTo>
                    <a:pt x="7935" y="0"/>
                    <a:pt x="9530" y="661"/>
                    <a:pt x="10706" y="1837"/>
                  </a:cubicBezTo>
                  <a:cubicBezTo>
                    <a:pt x="11882" y="3013"/>
                    <a:pt x="12543" y="4608"/>
                    <a:pt x="12543" y="6272"/>
                  </a:cubicBezTo>
                  <a:lnTo>
                    <a:pt x="12543" y="309172"/>
                  </a:lnTo>
                  <a:cubicBezTo>
                    <a:pt x="12543" y="310835"/>
                    <a:pt x="11882" y="312431"/>
                    <a:pt x="10706" y="313607"/>
                  </a:cubicBezTo>
                  <a:cubicBezTo>
                    <a:pt x="9530" y="314783"/>
                    <a:pt x="7935" y="315444"/>
                    <a:pt x="6272" y="315444"/>
                  </a:cubicBezTo>
                  <a:lnTo>
                    <a:pt x="6272" y="315444"/>
                  </a:lnTo>
                  <a:cubicBezTo>
                    <a:pt x="4608" y="315444"/>
                    <a:pt x="3013" y="314783"/>
                    <a:pt x="1837" y="313607"/>
                  </a:cubicBezTo>
                  <a:cubicBezTo>
                    <a:pt x="661" y="312431"/>
                    <a:pt x="0" y="310835"/>
                    <a:pt x="0" y="309172"/>
                  </a:cubicBezTo>
                  <a:lnTo>
                    <a:pt x="0" y="6272"/>
                  </a:lnTo>
                  <a:cubicBezTo>
                    <a:pt x="0" y="4608"/>
                    <a:pt x="661" y="3013"/>
                    <a:pt x="1837" y="1837"/>
                  </a:cubicBezTo>
                  <a:cubicBezTo>
                    <a:pt x="3013" y="661"/>
                    <a:pt x="4608" y="0"/>
                    <a:pt x="6272" y="0"/>
                  </a:cubicBezTo>
                  <a:close/>
                </a:path>
              </a:pathLst>
            </a:custGeom>
            <a:solidFill>
              <a:srgbClr val="A6A6A6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12543" cy="3535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04923" y="-148528"/>
            <a:ext cx="19097845" cy="1177228"/>
            <a:chOff x="0" y="0"/>
            <a:chExt cx="5029885" cy="31005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29885" cy="310052"/>
            </a:xfrm>
            <a:custGeom>
              <a:avLst/>
              <a:gdLst/>
              <a:ahLst/>
              <a:cxnLst/>
              <a:rect r="r" b="b" t="t" l="l"/>
              <a:pathLst>
                <a:path h="310052" w="5029885">
                  <a:moveTo>
                    <a:pt x="0" y="0"/>
                  </a:moveTo>
                  <a:lnTo>
                    <a:pt x="5029885" y="0"/>
                  </a:lnTo>
                  <a:lnTo>
                    <a:pt x="5029885" y="310052"/>
                  </a:lnTo>
                  <a:lnTo>
                    <a:pt x="0" y="310052"/>
                  </a:lnTo>
                  <a:close/>
                </a:path>
              </a:pathLst>
            </a:custGeom>
            <a:solidFill>
              <a:srgbClr val="1B1B1B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029885" cy="3481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997203" y="425242"/>
            <a:ext cx="262097" cy="174622"/>
          </a:xfrm>
          <a:custGeom>
            <a:avLst/>
            <a:gdLst/>
            <a:ahLst/>
            <a:cxnLst/>
            <a:rect r="r" b="b" t="t" l="l"/>
            <a:pathLst>
              <a:path h="174622" w="262097">
                <a:moveTo>
                  <a:pt x="0" y="0"/>
                </a:moveTo>
                <a:lnTo>
                  <a:pt x="262097" y="0"/>
                </a:lnTo>
                <a:lnTo>
                  <a:pt x="262097" y="174622"/>
                </a:lnTo>
                <a:lnTo>
                  <a:pt x="0" y="1746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-5400000">
            <a:off x="7196770" y="610239"/>
            <a:ext cx="47625" cy="2932034"/>
            <a:chOff x="0" y="0"/>
            <a:chExt cx="12543" cy="77222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543" cy="772223"/>
            </a:xfrm>
            <a:custGeom>
              <a:avLst/>
              <a:gdLst/>
              <a:ahLst/>
              <a:cxnLst/>
              <a:rect r="r" b="b" t="t" l="l"/>
              <a:pathLst>
                <a:path h="772223" w="12543">
                  <a:moveTo>
                    <a:pt x="6272" y="0"/>
                  </a:moveTo>
                  <a:lnTo>
                    <a:pt x="6272" y="0"/>
                  </a:lnTo>
                  <a:cubicBezTo>
                    <a:pt x="7935" y="0"/>
                    <a:pt x="9530" y="661"/>
                    <a:pt x="10706" y="1837"/>
                  </a:cubicBezTo>
                  <a:cubicBezTo>
                    <a:pt x="11882" y="3013"/>
                    <a:pt x="12543" y="4608"/>
                    <a:pt x="12543" y="6272"/>
                  </a:cubicBezTo>
                  <a:lnTo>
                    <a:pt x="12543" y="765951"/>
                  </a:lnTo>
                  <a:cubicBezTo>
                    <a:pt x="12543" y="767615"/>
                    <a:pt x="11882" y="769210"/>
                    <a:pt x="10706" y="770386"/>
                  </a:cubicBezTo>
                  <a:cubicBezTo>
                    <a:pt x="9530" y="771562"/>
                    <a:pt x="7935" y="772223"/>
                    <a:pt x="6272" y="772223"/>
                  </a:cubicBezTo>
                  <a:lnTo>
                    <a:pt x="6272" y="772223"/>
                  </a:lnTo>
                  <a:cubicBezTo>
                    <a:pt x="4608" y="772223"/>
                    <a:pt x="3013" y="771562"/>
                    <a:pt x="1837" y="770386"/>
                  </a:cubicBezTo>
                  <a:cubicBezTo>
                    <a:pt x="661" y="769210"/>
                    <a:pt x="0" y="767615"/>
                    <a:pt x="0" y="765951"/>
                  </a:cubicBezTo>
                  <a:lnTo>
                    <a:pt x="0" y="6272"/>
                  </a:lnTo>
                  <a:cubicBezTo>
                    <a:pt x="0" y="4608"/>
                    <a:pt x="661" y="3013"/>
                    <a:pt x="1837" y="1837"/>
                  </a:cubicBezTo>
                  <a:cubicBezTo>
                    <a:pt x="3013" y="661"/>
                    <a:pt x="4608" y="0"/>
                    <a:pt x="6272" y="0"/>
                  </a:cubicBezTo>
                  <a:close/>
                </a:path>
              </a:pathLst>
            </a:custGeom>
            <a:solidFill>
              <a:srgbClr val="A6A6A6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2543" cy="8103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28700" y="7145924"/>
            <a:ext cx="7538665" cy="3525679"/>
            <a:chOff x="0" y="0"/>
            <a:chExt cx="8459470" cy="39563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459470" cy="3955001"/>
            </a:xfrm>
            <a:custGeom>
              <a:avLst/>
              <a:gdLst/>
              <a:ahLst/>
              <a:cxnLst/>
              <a:rect r="r" b="b" t="t" l="l"/>
              <a:pathLst>
                <a:path h="3955001" w="8459470">
                  <a:moveTo>
                    <a:pt x="458470" y="0"/>
                  </a:moveTo>
                  <a:lnTo>
                    <a:pt x="8001000" y="0"/>
                  </a:lnTo>
                  <a:cubicBezTo>
                    <a:pt x="8255000" y="0"/>
                    <a:pt x="8459470" y="213641"/>
                    <a:pt x="8459470" y="476077"/>
                  </a:cubicBezTo>
                  <a:lnTo>
                    <a:pt x="8459470" y="2409399"/>
                  </a:lnTo>
                  <a:cubicBezTo>
                    <a:pt x="8459470" y="2545232"/>
                    <a:pt x="8403590" y="2675791"/>
                    <a:pt x="8304530" y="2765468"/>
                  </a:cubicBezTo>
                  <a:lnTo>
                    <a:pt x="7141210" y="3834993"/>
                  </a:lnTo>
                  <a:cubicBezTo>
                    <a:pt x="7057390" y="3912800"/>
                    <a:pt x="6949440" y="3955001"/>
                    <a:pt x="6836410" y="3955001"/>
                  </a:cubicBezTo>
                  <a:lnTo>
                    <a:pt x="3760470" y="3955001"/>
                  </a:lnTo>
                  <a:cubicBezTo>
                    <a:pt x="3506470" y="3955001"/>
                    <a:pt x="3302000" y="3741360"/>
                    <a:pt x="3302000" y="3478924"/>
                  </a:cubicBezTo>
                  <a:lnTo>
                    <a:pt x="3302000" y="3351003"/>
                  </a:lnTo>
                  <a:cubicBezTo>
                    <a:pt x="3302000" y="3087248"/>
                    <a:pt x="3096260" y="2874926"/>
                    <a:pt x="2843530" y="2874926"/>
                  </a:cubicBezTo>
                  <a:lnTo>
                    <a:pt x="458470" y="2874926"/>
                  </a:lnTo>
                  <a:cubicBezTo>
                    <a:pt x="205740" y="2874926"/>
                    <a:pt x="0" y="2661284"/>
                    <a:pt x="0" y="2398849"/>
                  </a:cubicBezTo>
                  <a:lnTo>
                    <a:pt x="0" y="476077"/>
                  </a:lnTo>
                  <a:cubicBezTo>
                    <a:pt x="0" y="213641"/>
                    <a:pt x="205740" y="0"/>
                    <a:pt x="458470" y="0"/>
                  </a:cubicBezTo>
                  <a:close/>
                </a:path>
              </a:pathLst>
            </a:custGeom>
            <a:blipFill>
              <a:blip r:embed="rId4"/>
              <a:stretch>
                <a:fillRect l="-380" t="-43591" r="-380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028700" y="2595486"/>
            <a:ext cx="8172450" cy="19186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61"/>
              </a:lnSpc>
            </a:pPr>
            <a:r>
              <a:rPr lang="en-US" sz="7161" spc="-487" b="true">
                <a:solidFill>
                  <a:srgbClr val="1B1B1B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Core Technology Behind Seedance 2.0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976443" y="7145924"/>
            <a:ext cx="7387470" cy="2841499"/>
            <a:chOff x="0" y="0"/>
            <a:chExt cx="1945671" cy="74837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945671" cy="748378"/>
            </a:xfrm>
            <a:custGeom>
              <a:avLst/>
              <a:gdLst/>
              <a:ahLst/>
              <a:cxnLst/>
              <a:rect r="r" b="b" t="t" l="l"/>
              <a:pathLst>
                <a:path h="748378" w="1945671">
                  <a:moveTo>
                    <a:pt x="31439" y="0"/>
                  </a:moveTo>
                  <a:lnTo>
                    <a:pt x="1914232" y="0"/>
                  </a:lnTo>
                  <a:cubicBezTo>
                    <a:pt x="1931595" y="0"/>
                    <a:pt x="1945671" y="14076"/>
                    <a:pt x="1945671" y="31439"/>
                  </a:cubicBezTo>
                  <a:lnTo>
                    <a:pt x="1945671" y="716939"/>
                  </a:lnTo>
                  <a:cubicBezTo>
                    <a:pt x="1945671" y="734302"/>
                    <a:pt x="1931595" y="748378"/>
                    <a:pt x="1914232" y="748378"/>
                  </a:cubicBezTo>
                  <a:lnTo>
                    <a:pt x="31439" y="748378"/>
                  </a:lnTo>
                  <a:cubicBezTo>
                    <a:pt x="14076" y="748378"/>
                    <a:pt x="0" y="734302"/>
                    <a:pt x="0" y="716939"/>
                  </a:cubicBezTo>
                  <a:lnTo>
                    <a:pt x="0" y="31439"/>
                  </a:lnTo>
                  <a:cubicBezTo>
                    <a:pt x="0" y="14076"/>
                    <a:pt x="14076" y="0"/>
                    <a:pt x="31439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A6A6A6"/>
              </a:soli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945671" cy="7864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0235574" y="7859520"/>
            <a:ext cx="6715974" cy="1953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99412" indent="-199706" lvl="1">
              <a:lnSpc>
                <a:spcPts val="3089"/>
              </a:lnSpc>
              <a:buFont typeface="Arial"/>
              <a:buChar char="•"/>
            </a:pPr>
            <a:r>
              <a:rPr lang="en-US" sz="1849" spc="-55">
                <a:solidFill>
                  <a:srgbClr val="1B1B1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Handles spatial information (objects, positions) and temporal information (motion over time).</a:t>
            </a:r>
          </a:p>
          <a:p>
            <a:pPr algn="l" marL="399412" indent="-199706" lvl="1">
              <a:lnSpc>
                <a:spcPts val="3089"/>
              </a:lnSpc>
              <a:buFont typeface="Arial"/>
              <a:buChar char="•"/>
            </a:pPr>
            <a:r>
              <a:rPr lang="en-US" sz="1849" spc="-55">
                <a:solidFill>
                  <a:srgbClr val="1B1B1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Ensures stability and continuity in generated videos.</a:t>
            </a:r>
          </a:p>
          <a:p>
            <a:pPr algn="l">
              <a:lnSpc>
                <a:spcPts val="3089"/>
              </a:lnSpc>
            </a:pPr>
            <a:r>
              <a:rPr lang="en-US" sz="1849" spc="-55" b="true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Benefit</a:t>
            </a:r>
            <a:r>
              <a:rPr lang="en-US" sz="1849" spc="-55">
                <a:solidFill>
                  <a:srgbClr val="1B1B1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: </a:t>
            </a:r>
            <a:r>
              <a:rPr lang="en-US" sz="1849" spc="-55">
                <a:solidFill>
                  <a:srgbClr val="1B1B1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Mai</a:t>
            </a:r>
            <a:r>
              <a:rPr lang="en-US" sz="1849" spc="-55">
                <a:solidFill>
                  <a:srgbClr val="1B1B1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nt</a:t>
            </a:r>
            <a:r>
              <a:rPr lang="en-US" sz="1849" spc="-55">
                <a:solidFill>
                  <a:srgbClr val="1B1B1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ain</a:t>
            </a:r>
            <a:r>
              <a:rPr lang="en-US" sz="1849" spc="-55">
                <a:solidFill>
                  <a:srgbClr val="1B1B1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 c</a:t>
            </a:r>
            <a:r>
              <a:rPr lang="en-US" sz="1849" spc="-55">
                <a:solidFill>
                  <a:srgbClr val="1B1B1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</a:t>
            </a:r>
            <a:r>
              <a:rPr lang="en-US" sz="1849" spc="-55">
                <a:solidFill>
                  <a:srgbClr val="1B1B1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n</a:t>
            </a:r>
            <a:r>
              <a:rPr lang="en-US" sz="1849" spc="-55">
                <a:solidFill>
                  <a:srgbClr val="1B1B1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</a:t>
            </a:r>
            <a:r>
              <a:rPr lang="en-US" sz="1849" spc="-55">
                <a:solidFill>
                  <a:srgbClr val="1B1B1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ist</a:t>
            </a:r>
            <a:r>
              <a:rPr lang="en-US" sz="1849" spc="-55">
                <a:solidFill>
                  <a:srgbClr val="1B1B1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ent m</a:t>
            </a:r>
            <a:r>
              <a:rPr lang="en-US" sz="1849" spc="-55">
                <a:solidFill>
                  <a:srgbClr val="1B1B1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otion and </a:t>
            </a:r>
            <a:r>
              <a:rPr lang="en-US" sz="1849" spc="-55">
                <a:solidFill>
                  <a:srgbClr val="1B1B1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</a:t>
            </a:r>
            <a:r>
              <a:rPr lang="en-US" sz="1849" spc="-55">
                <a:solidFill>
                  <a:srgbClr val="1B1B1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</a:t>
            </a:r>
            <a:r>
              <a:rPr lang="en-US" sz="1849" spc="-55">
                <a:solidFill>
                  <a:srgbClr val="1B1B1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</a:t>
            </a:r>
            <a:r>
              <a:rPr lang="en-US" sz="1849" spc="-55">
                <a:solidFill>
                  <a:srgbClr val="1B1B1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n</a:t>
            </a:r>
            <a:r>
              <a:rPr lang="en-US" sz="1849" spc="-55">
                <a:solidFill>
                  <a:srgbClr val="1B1B1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 </a:t>
            </a:r>
            <a:r>
              <a:rPr lang="en-US" sz="1849" spc="-55">
                <a:solidFill>
                  <a:srgbClr val="1B1B1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st</a:t>
            </a:r>
            <a:r>
              <a:rPr lang="en-US" sz="1849" spc="-55">
                <a:solidFill>
                  <a:srgbClr val="1B1B1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ructur</a:t>
            </a:r>
            <a:r>
              <a:rPr lang="en-US" sz="1849" spc="-55">
                <a:solidFill>
                  <a:srgbClr val="1B1B1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</a:t>
            </a:r>
            <a:r>
              <a:rPr lang="en-US" sz="1849" spc="-55">
                <a:solidFill>
                  <a:srgbClr val="1B1B1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.</a:t>
            </a:r>
          </a:p>
          <a:p>
            <a:pPr algn="l">
              <a:lnSpc>
                <a:spcPts val="3089"/>
              </a:lnSpc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10519624" y="7398990"/>
            <a:ext cx="6147874" cy="3247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9"/>
              </a:lnSpc>
            </a:pPr>
            <a:r>
              <a:rPr lang="en-US" b="true" sz="1999" i="true" spc="-59">
                <a:solidFill>
                  <a:srgbClr val="1B1B1B"/>
                </a:solidFill>
                <a:latin typeface="Helvetica World Bold Italics"/>
                <a:ea typeface="Helvetica World Bold Italics"/>
                <a:cs typeface="Helvetica World Bold Italics"/>
                <a:sym typeface="Helvetica World Bold Italics"/>
              </a:rPr>
              <a:t>Spatio-Temporal Modeling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9976443" y="4588005"/>
            <a:ext cx="7387470" cy="2458560"/>
            <a:chOff x="0" y="0"/>
            <a:chExt cx="1945671" cy="64752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45671" cy="647522"/>
            </a:xfrm>
            <a:custGeom>
              <a:avLst/>
              <a:gdLst/>
              <a:ahLst/>
              <a:cxnLst/>
              <a:rect r="r" b="b" t="t" l="l"/>
              <a:pathLst>
                <a:path h="647522" w="1945671">
                  <a:moveTo>
                    <a:pt x="31439" y="0"/>
                  </a:moveTo>
                  <a:lnTo>
                    <a:pt x="1914232" y="0"/>
                  </a:lnTo>
                  <a:cubicBezTo>
                    <a:pt x="1931595" y="0"/>
                    <a:pt x="1945671" y="14076"/>
                    <a:pt x="1945671" y="31439"/>
                  </a:cubicBezTo>
                  <a:lnTo>
                    <a:pt x="1945671" y="616083"/>
                  </a:lnTo>
                  <a:cubicBezTo>
                    <a:pt x="1945671" y="633446"/>
                    <a:pt x="1931595" y="647522"/>
                    <a:pt x="1914232" y="647522"/>
                  </a:cubicBezTo>
                  <a:lnTo>
                    <a:pt x="31439" y="647522"/>
                  </a:lnTo>
                  <a:cubicBezTo>
                    <a:pt x="14076" y="647522"/>
                    <a:pt x="0" y="633446"/>
                    <a:pt x="0" y="616083"/>
                  </a:cubicBezTo>
                  <a:lnTo>
                    <a:pt x="0" y="31439"/>
                  </a:lnTo>
                  <a:cubicBezTo>
                    <a:pt x="0" y="14076"/>
                    <a:pt x="14076" y="0"/>
                    <a:pt x="31439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A6A6A6"/>
              </a:solidFill>
              <a:prstDash val="solid"/>
              <a:round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945671" cy="6856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0235574" y="5092934"/>
            <a:ext cx="7064072" cy="1953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99412" indent="-199706" lvl="1">
              <a:lnSpc>
                <a:spcPts val="3089"/>
              </a:lnSpc>
              <a:buFont typeface="Arial"/>
              <a:buChar char="•"/>
            </a:pPr>
            <a:r>
              <a:rPr lang="en-US" sz="1849" spc="-55">
                <a:solidFill>
                  <a:srgbClr val="1B1B1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Uses transformer architectures to interpret user prompts.</a:t>
            </a:r>
          </a:p>
          <a:p>
            <a:pPr algn="l" marL="399412" indent="-199706" lvl="1">
              <a:lnSpc>
                <a:spcPts val="3089"/>
              </a:lnSpc>
              <a:buFont typeface="Arial"/>
              <a:buChar char="•"/>
            </a:pPr>
            <a:r>
              <a:rPr lang="en-US" sz="1849" spc="-55">
                <a:solidFill>
                  <a:srgbClr val="1B1B1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Converts text instructions into semantic representations for video generation.</a:t>
            </a:r>
          </a:p>
          <a:p>
            <a:pPr algn="l">
              <a:lnSpc>
                <a:spcPts val="3089"/>
              </a:lnSpc>
            </a:pPr>
            <a:r>
              <a:rPr lang="en-US" sz="1849" spc="-55" b="true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Benefit</a:t>
            </a:r>
            <a:r>
              <a:rPr lang="en-US" sz="1849" spc="-55">
                <a:solidFill>
                  <a:srgbClr val="1B1B1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: </a:t>
            </a:r>
            <a:r>
              <a:rPr lang="en-US" sz="1849" spc="-55">
                <a:solidFill>
                  <a:srgbClr val="1B1B1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Improv</a:t>
            </a:r>
            <a:r>
              <a:rPr lang="en-US" sz="1849" spc="-55">
                <a:solidFill>
                  <a:srgbClr val="1B1B1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es un</a:t>
            </a:r>
            <a:r>
              <a:rPr lang="en-US" sz="1849" spc="-55">
                <a:solidFill>
                  <a:srgbClr val="1B1B1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</a:t>
            </a:r>
            <a:r>
              <a:rPr lang="en-US" sz="1849" spc="-55">
                <a:solidFill>
                  <a:srgbClr val="1B1B1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er</a:t>
            </a:r>
            <a:r>
              <a:rPr lang="en-US" sz="1849" spc="-55">
                <a:solidFill>
                  <a:srgbClr val="1B1B1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</a:t>
            </a:r>
            <a:r>
              <a:rPr lang="en-US" sz="1849" spc="-55">
                <a:solidFill>
                  <a:srgbClr val="1B1B1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</a:t>
            </a:r>
            <a:r>
              <a:rPr lang="en-US" sz="1849" spc="-55">
                <a:solidFill>
                  <a:srgbClr val="1B1B1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anding of</a:t>
            </a:r>
            <a:r>
              <a:rPr lang="en-US" sz="1849" spc="-55">
                <a:solidFill>
                  <a:srgbClr val="1B1B1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complex </a:t>
            </a:r>
            <a:r>
              <a:rPr lang="en-US" sz="1849" spc="-55">
                <a:solidFill>
                  <a:srgbClr val="1B1B1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sce</a:t>
            </a:r>
            <a:r>
              <a:rPr lang="en-US" sz="1849" spc="-55">
                <a:solidFill>
                  <a:srgbClr val="1B1B1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ne descriptions.</a:t>
            </a:r>
          </a:p>
          <a:p>
            <a:pPr algn="l">
              <a:lnSpc>
                <a:spcPts val="3089"/>
              </a:lnSpc>
            </a:pPr>
          </a:p>
        </p:txBody>
      </p:sp>
      <p:sp>
        <p:nvSpPr>
          <p:cNvPr name="TextBox 21" id="21"/>
          <p:cNvSpPr txBox="true"/>
          <p:nvPr/>
        </p:nvSpPr>
        <p:spPr>
          <a:xfrm rot="0">
            <a:off x="10543935" y="4768204"/>
            <a:ext cx="6147874" cy="3247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9"/>
              </a:lnSpc>
            </a:pPr>
            <a:r>
              <a:rPr lang="en-US" b="true" sz="1999" i="true" spc="-59">
                <a:solidFill>
                  <a:srgbClr val="1B1B1B"/>
                </a:solidFill>
                <a:latin typeface="Helvetica World Bold Italics"/>
                <a:ea typeface="Helvetica World Bold Italics"/>
                <a:cs typeface="Helvetica World Bold Italics"/>
                <a:sym typeface="Helvetica World Bold Italics"/>
              </a:rPr>
              <a:t>Transformer-based Prompt Understanding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9976443" y="1600366"/>
            <a:ext cx="7387470" cy="2816189"/>
            <a:chOff x="0" y="0"/>
            <a:chExt cx="1945671" cy="74171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945671" cy="741712"/>
            </a:xfrm>
            <a:custGeom>
              <a:avLst/>
              <a:gdLst/>
              <a:ahLst/>
              <a:cxnLst/>
              <a:rect r="r" b="b" t="t" l="l"/>
              <a:pathLst>
                <a:path h="741712" w="1945671">
                  <a:moveTo>
                    <a:pt x="31439" y="0"/>
                  </a:moveTo>
                  <a:lnTo>
                    <a:pt x="1914232" y="0"/>
                  </a:lnTo>
                  <a:cubicBezTo>
                    <a:pt x="1931595" y="0"/>
                    <a:pt x="1945671" y="14076"/>
                    <a:pt x="1945671" y="31439"/>
                  </a:cubicBezTo>
                  <a:lnTo>
                    <a:pt x="1945671" y="710273"/>
                  </a:lnTo>
                  <a:cubicBezTo>
                    <a:pt x="1945671" y="727636"/>
                    <a:pt x="1931595" y="741712"/>
                    <a:pt x="1914232" y="741712"/>
                  </a:cubicBezTo>
                  <a:lnTo>
                    <a:pt x="31439" y="741712"/>
                  </a:lnTo>
                  <a:cubicBezTo>
                    <a:pt x="14076" y="741712"/>
                    <a:pt x="0" y="727636"/>
                    <a:pt x="0" y="710273"/>
                  </a:cubicBezTo>
                  <a:lnTo>
                    <a:pt x="0" y="31439"/>
                  </a:lnTo>
                  <a:cubicBezTo>
                    <a:pt x="0" y="14076"/>
                    <a:pt x="14076" y="0"/>
                    <a:pt x="31439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A6A6A6"/>
              </a:solidFill>
              <a:prstDash val="solid"/>
              <a:round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1945671" cy="7798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10360822" y="2257293"/>
            <a:ext cx="6767429" cy="1953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99412" indent="-199706" lvl="1">
              <a:lnSpc>
                <a:spcPts val="3089"/>
              </a:lnSpc>
              <a:buFont typeface="Arial"/>
              <a:buChar char="•"/>
            </a:pPr>
            <a:r>
              <a:rPr lang="en-US" sz="1849" spc="-55">
                <a:solidFill>
                  <a:srgbClr val="1B1B1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Used for high-quality visual generation.</a:t>
            </a:r>
          </a:p>
          <a:p>
            <a:pPr algn="l" marL="399412" indent="-199706" lvl="1">
              <a:lnSpc>
                <a:spcPts val="3089"/>
              </a:lnSpc>
              <a:buFont typeface="Arial"/>
              <a:buChar char="•"/>
            </a:pPr>
            <a:r>
              <a:rPr lang="en-US" sz="1849" spc="-55">
                <a:solidFill>
                  <a:srgbClr val="1B1B1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Produces detailed frames with realistic textures, lighting, and scenes.</a:t>
            </a:r>
          </a:p>
          <a:p>
            <a:pPr algn="l">
              <a:lnSpc>
                <a:spcPts val="3089"/>
              </a:lnSpc>
            </a:pPr>
            <a:r>
              <a:rPr lang="en-US" sz="1849" spc="-55" b="true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Benefit</a:t>
            </a:r>
            <a:r>
              <a:rPr lang="en-US" sz="1849" spc="-55">
                <a:solidFill>
                  <a:srgbClr val="1B1B1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: </a:t>
            </a:r>
            <a:r>
              <a:rPr lang="en-US" sz="1849" spc="-55">
                <a:solidFill>
                  <a:srgbClr val="1B1B1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Gene</a:t>
            </a:r>
            <a:r>
              <a:rPr lang="en-US" sz="1849" spc="-55">
                <a:solidFill>
                  <a:srgbClr val="1B1B1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</a:t>
            </a:r>
            <a:r>
              <a:rPr lang="en-US" sz="1849" spc="-55">
                <a:solidFill>
                  <a:srgbClr val="1B1B1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at</a:t>
            </a:r>
            <a:r>
              <a:rPr lang="en-US" sz="1849" spc="-55">
                <a:solidFill>
                  <a:srgbClr val="1B1B1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es </a:t>
            </a:r>
            <a:r>
              <a:rPr lang="en-US" sz="1849" spc="-55">
                <a:solidFill>
                  <a:srgbClr val="1B1B1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v</a:t>
            </a:r>
            <a:r>
              <a:rPr lang="en-US" sz="1849" spc="-55">
                <a:solidFill>
                  <a:srgbClr val="1B1B1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</a:t>
            </a:r>
            <a:r>
              <a:rPr lang="en-US" sz="1849" spc="-55">
                <a:solidFill>
                  <a:srgbClr val="1B1B1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</a:t>
            </a:r>
            <a:r>
              <a:rPr lang="en-US" sz="1849" spc="-55">
                <a:solidFill>
                  <a:srgbClr val="1B1B1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ual</a:t>
            </a:r>
            <a:r>
              <a:rPr lang="en-US" sz="1849" spc="-55">
                <a:solidFill>
                  <a:srgbClr val="1B1B1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l</a:t>
            </a:r>
            <a:r>
              <a:rPr lang="en-US" sz="1849" spc="-55">
                <a:solidFill>
                  <a:srgbClr val="1B1B1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y</a:t>
            </a:r>
            <a:r>
              <a:rPr lang="en-US" sz="1849" spc="-55">
                <a:solidFill>
                  <a:srgbClr val="1B1B1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rich</a:t>
            </a:r>
            <a:r>
              <a:rPr lang="en-US" sz="1849" spc="-55">
                <a:solidFill>
                  <a:srgbClr val="1B1B1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and realistic vi</a:t>
            </a:r>
            <a:r>
              <a:rPr lang="en-US" sz="1849" spc="-55">
                <a:solidFill>
                  <a:srgbClr val="1B1B1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deo content</a:t>
            </a:r>
            <a:r>
              <a:rPr lang="en-US" sz="1849" spc="-55">
                <a:solidFill>
                  <a:srgbClr val="1B1B1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.</a:t>
            </a:r>
          </a:p>
          <a:p>
            <a:pPr algn="l">
              <a:lnSpc>
                <a:spcPts val="3089"/>
              </a:lnSpc>
            </a:pPr>
          </a:p>
        </p:txBody>
      </p:sp>
      <p:sp>
        <p:nvSpPr>
          <p:cNvPr name="TextBox 26" id="26"/>
          <p:cNvSpPr txBox="true"/>
          <p:nvPr/>
        </p:nvSpPr>
        <p:spPr>
          <a:xfrm rot="0">
            <a:off x="10543935" y="1782568"/>
            <a:ext cx="6147874" cy="3247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9"/>
              </a:lnSpc>
            </a:pPr>
            <a:r>
              <a:rPr lang="en-US" b="true" sz="1999" i="true" spc="-59">
                <a:solidFill>
                  <a:srgbClr val="1B1B1B"/>
                </a:solidFill>
                <a:latin typeface="Helvetica World Bold Italics"/>
                <a:ea typeface="Helvetica World Bold Italics"/>
                <a:cs typeface="Helvetica World Bold Italics"/>
                <a:sym typeface="Helvetica World Bold Italics"/>
              </a:rPr>
              <a:t>Diffusion Models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85850" y="4729751"/>
            <a:ext cx="8135317" cy="1396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0"/>
              </a:lnSpc>
              <a:spcBef>
                <a:spcPct val="0"/>
              </a:spcBef>
            </a:pPr>
            <a:r>
              <a:rPr lang="en-US" sz="2000" spc="-130">
                <a:solidFill>
                  <a:srgbClr val="1B1B1B"/>
                </a:solidFill>
                <a:latin typeface="Telegraf"/>
                <a:ea typeface="Telegraf"/>
                <a:cs typeface="Telegraf"/>
                <a:sym typeface="Telegraf"/>
              </a:rPr>
              <a:t>Seedance 2.0 generates videos using a combination of three key AI technologies: diffusion models, transformer-based prompt understanding, and spatio-temporal modeling. Each component handles a different part of the video generation process.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04923" y="-148528"/>
            <a:ext cx="19097845" cy="1177228"/>
            <a:chOff x="0" y="0"/>
            <a:chExt cx="5029885" cy="31005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29885" cy="310052"/>
            </a:xfrm>
            <a:custGeom>
              <a:avLst/>
              <a:gdLst/>
              <a:ahLst/>
              <a:cxnLst/>
              <a:rect r="r" b="b" t="t" l="l"/>
              <a:pathLst>
                <a:path h="310052" w="5029885">
                  <a:moveTo>
                    <a:pt x="0" y="0"/>
                  </a:moveTo>
                  <a:lnTo>
                    <a:pt x="5029885" y="0"/>
                  </a:lnTo>
                  <a:lnTo>
                    <a:pt x="5029885" y="310052"/>
                  </a:lnTo>
                  <a:lnTo>
                    <a:pt x="0" y="310052"/>
                  </a:lnTo>
                  <a:close/>
                </a:path>
              </a:pathLst>
            </a:custGeom>
            <a:solidFill>
              <a:srgbClr val="1B1B1B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029885" cy="3481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997203" y="425242"/>
            <a:ext cx="262097" cy="174622"/>
          </a:xfrm>
          <a:custGeom>
            <a:avLst/>
            <a:gdLst/>
            <a:ahLst/>
            <a:cxnLst/>
            <a:rect r="r" b="b" t="t" l="l"/>
            <a:pathLst>
              <a:path h="174622" w="262097">
                <a:moveTo>
                  <a:pt x="0" y="0"/>
                </a:moveTo>
                <a:lnTo>
                  <a:pt x="262097" y="0"/>
                </a:lnTo>
                <a:lnTo>
                  <a:pt x="262097" y="174622"/>
                </a:lnTo>
                <a:lnTo>
                  <a:pt x="0" y="1746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676275" y="1983416"/>
            <a:ext cx="8321285" cy="6943606"/>
            <a:chOff x="0" y="0"/>
            <a:chExt cx="2191614" cy="182876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1614" cy="1828769"/>
            </a:xfrm>
            <a:custGeom>
              <a:avLst/>
              <a:gdLst/>
              <a:ahLst/>
              <a:cxnLst/>
              <a:rect r="r" b="b" t="t" l="l"/>
              <a:pathLst>
                <a:path h="1828769" w="2191614">
                  <a:moveTo>
                    <a:pt x="27911" y="0"/>
                  </a:moveTo>
                  <a:lnTo>
                    <a:pt x="2163703" y="0"/>
                  </a:lnTo>
                  <a:cubicBezTo>
                    <a:pt x="2171106" y="0"/>
                    <a:pt x="2178205" y="2941"/>
                    <a:pt x="2183439" y="8175"/>
                  </a:cubicBezTo>
                  <a:cubicBezTo>
                    <a:pt x="2188674" y="13409"/>
                    <a:pt x="2191614" y="20509"/>
                    <a:pt x="2191614" y="27911"/>
                  </a:cubicBezTo>
                  <a:lnTo>
                    <a:pt x="2191614" y="1800858"/>
                  </a:lnTo>
                  <a:cubicBezTo>
                    <a:pt x="2191614" y="1816272"/>
                    <a:pt x="2179118" y="1828769"/>
                    <a:pt x="2163703" y="1828769"/>
                  </a:cubicBezTo>
                  <a:lnTo>
                    <a:pt x="27911" y="1828769"/>
                  </a:lnTo>
                  <a:cubicBezTo>
                    <a:pt x="12496" y="1828769"/>
                    <a:pt x="0" y="1816272"/>
                    <a:pt x="0" y="1800858"/>
                  </a:cubicBezTo>
                  <a:lnTo>
                    <a:pt x="0" y="27911"/>
                  </a:lnTo>
                  <a:cubicBezTo>
                    <a:pt x="0" y="12496"/>
                    <a:pt x="12496" y="0"/>
                    <a:pt x="27911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A6A6A6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191614" cy="18668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218227" y="3075703"/>
            <a:ext cx="8135317" cy="1226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1"/>
              </a:lnSpc>
            </a:pPr>
            <a:r>
              <a:rPr lang="en-US" sz="1699" spc="-50" b="true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Step 1 — Understand the Prompt</a:t>
            </a:r>
          </a:p>
          <a:p>
            <a:pPr algn="l" marL="367029" indent="-183514" lvl="1">
              <a:lnSpc>
                <a:spcPts val="2481"/>
              </a:lnSpc>
              <a:buFont typeface="Arial"/>
              <a:buChar char="•"/>
            </a:pPr>
            <a:r>
              <a:rPr lang="en-US" sz="1699" spc="-50">
                <a:solidFill>
                  <a:srgbClr val="1B1B1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User enters a text description of the scene.</a:t>
            </a:r>
          </a:p>
          <a:p>
            <a:pPr algn="l" marL="367029" indent="-183514" lvl="1">
              <a:lnSpc>
                <a:spcPts val="2481"/>
              </a:lnSpc>
              <a:buFont typeface="Arial"/>
              <a:buChar char="•"/>
            </a:pPr>
            <a:r>
              <a:rPr lang="en-US" sz="1699" spc="-50">
                <a:solidFill>
                  <a:srgbClr val="1B1B1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AI language models analyze the prompt and convert it into numerical embeddings representing the scene.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69259" y="1054553"/>
            <a:ext cx="8135317" cy="7696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sz="4200" spc="-273">
                <a:solidFill>
                  <a:srgbClr val="1B1B1B"/>
                </a:solidFill>
                <a:latin typeface="Telegraf"/>
                <a:ea typeface="Telegraf"/>
                <a:cs typeface="Telegraf"/>
                <a:sym typeface="Telegraf"/>
              </a:rPr>
              <a:t>How Seedance 2 .0 Works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91408" y="4483244"/>
            <a:ext cx="8135317" cy="1531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1"/>
              </a:lnSpc>
            </a:pPr>
            <a:r>
              <a:rPr lang="en-US" sz="1699" spc="-50" b="true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Step 2 — Generate Visual Content</a:t>
            </a:r>
          </a:p>
          <a:p>
            <a:pPr algn="l" marL="367029" indent="-183514" lvl="1">
              <a:lnSpc>
                <a:spcPts val="2481"/>
              </a:lnSpc>
              <a:buFont typeface="Arial"/>
              <a:buChar char="•"/>
            </a:pPr>
            <a:r>
              <a:rPr lang="en-US" sz="1699" spc="-50">
                <a:solidFill>
                  <a:srgbClr val="1B1B1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Uses diffusion models to create visuals.</a:t>
            </a:r>
          </a:p>
          <a:p>
            <a:pPr algn="l" marL="367029" indent="-183514" lvl="1">
              <a:lnSpc>
                <a:spcPts val="2481"/>
              </a:lnSpc>
              <a:buFont typeface="Arial"/>
              <a:buChar char="•"/>
            </a:pPr>
            <a:r>
              <a:rPr lang="en-US" sz="1699" spc="-50">
                <a:solidFill>
                  <a:srgbClr val="1B1B1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Starts with random noise → gradually removes noise → forms clear images.</a:t>
            </a:r>
          </a:p>
          <a:p>
            <a:pPr algn="l" marL="367029" indent="-183514" lvl="1">
              <a:lnSpc>
                <a:spcPts val="2481"/>
              </a:lnSpc>
              <a:buFont typeface="Arial"/>
              <a:buChar char="•"/>
            </a:pPr>
            <a:r>
              <a:rPr lang="en-US" sz="1699" spc="-50">
                <a:solidFill>
                  <a:srgbClr val="1B1B1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Multiple frames are generated for video.</a:t>
            </a:r>
          </a:p>
          <a:p>
            <a:pPr algn="l">
              <a:lnSpc>
                <a:spcPts val="2481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1218227" y="6019832"/>
            <a:ext cx="8135317" cy="1226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1"/>
              </a:lnSpc>
            </a:pPr>
            <a:r>
              <a:rPr lang="en-US" sz="1699" spc="-50" b="true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Step 3 — Mainta</a:t>
            </a:r>
            <a:r>
              <a:rPr lang="en-US" sz="1699" spc="-50" b="true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in Motion Across Frames</a:t>
            </a:r>
          </a:p>
          <a:p>
            <a:pPr algn="l" marL="367029" indent="-183514" lvl="1">
              <a:lnSpc>
                <a:spcPts val="2481"/>
              </a:lnSpc>
              <a:buFont typeface="Arial"/>
              <a:buChar char="•"/>
            </a:pPr>
            <a:r>
              <a:rPr lang="en-US" sz="1699" spc="-50">
                <a:solidFill>
                  <a:srgbClr val="1B1B1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Ensures smooth motion and consistency across frames.</a:t>
            </a:r>
          </a:p>
          <a:p>
            <a:pPr algn="l" marL="367029" indent="-183514" lvl="1">
              <a:lnSpc>
                <a:spcPts val="2481"/>
              </a:lnSpc>
              <a:buFont typeface="Arial"/>
              <a:buChar char="•"/>
            </a:pPr>
            <a:r>
              <a:rPr lang="en-US" sz="1699" spc="-50">
                <a:solidFill>
                  <a:srgbClr val="1B1B1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Objects remain stable, characters move naturally.</a:t>
            </a:r>
          </a:p>
          <a:p>
            <a:pPr algn="l" marL="367029" indent="-183514" lvl="1">
              <a:lnSpc>
                <a:spcPts val="2481"/>
              </a:lnSpc>
              <a:buFont typeface="Arial"/>
              <a:buChar char="•"/>
            </a:pPr>
            <a:r>
              <a:rPr lang="en-US" sz="1699" spc="-50">
                <a:solidFill>
                  <a:srgbClr val="1B1B1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This i</a:t>
            </a:r>
            <a:r>
              <a:rPr lang="en-US" sz="1699" spc="-50">
                <a:solidFill>
                  <a:srgbClr val="1B1B1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 called temporal consistency.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18227" y="7605548"/>
            <a:ext cx="8135317" cy="921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1"/>
              </a:lnSpc>
            </a:pPr>
            <a:r>
              <a:rPr lang="en-US" sz="1699" spc="-50" b="true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Step 4 — Render F</a:t>
            </a:r>
            <a:r>
              <a:rPr lang="en-US" sz="1699" spc="-50" b="true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inal Video</a:t>
            </a:r>
          </a:p>
          <a:p>
            <a:pPr algn="l" marL="367029" indent="-183514" lvl="1">
              <a:lnSpc>
                <a:spcPts val="2481"/>
              </a:lnSpc>
              <a:buFont typeface="Arial"/>
              <a:buChar char="•"/>
            </a:pPr>
            <a:r>
              <a:rPr lang="en-US" sz="1699" spc="-50">
                <a:solidFill>
                  <a:srgbClr val="1B1B1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Generated frames are combined into a video clip.</a:t>
            </a:r>
          </a:p>
          <a:p>
            <a:pPr algn="l" marL="367029" indent="-183514" lvl="1">
              <a:lnSpc>
                <a:spcPts val="2481"/>
              </a:lnSpc>
              <a:buFont typeface="Arial"/>
              <a:buChar char="•"/>
            </a:pPr>
            <a:r>
              <a:rPr lang="en-US" sz="1699" spc="-50">
                <a:solidFill>
                  <a:srgbClr val="1B1B1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Output: 5–15 sec high-resolut</a:t>
            </a:r>
            <a:r>
              <a:rPr lang="en-US" sz="1699" spc="-50">
                <a:solidFill>
                  <a:srgbClr val="1B1B1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ion</a:t>
            </a:r>
            <a:r>
              <a:rPr lang="en-US" sz="1699" spc="-50">
                <a:solidFill>
                  <a:srgbClr val="1B1B1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cinematic video.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785397" y="2233968"/>
            <a:ext cx="8135317" cy="5263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0"/>
              </a:lnSpc>
              <a:spcBef>
                <a:spcPct val="0"/>
              </a:spcBef>
            </a:pPr>
            <a:r>
              <a:rPr lang="en-US" sz="2900" spc="-188" u="sng">
                <a:solidFill>
                  <a:srgbClr val="1B1B1B"/>
                </a:solidFill>
                <a:latin typeface="Telegraf"/>
                <a:ea typeface="Telegraf"/>
                <a:cs typeface="Telegraf"/>
                <a:sym typeface="Telegraf"/>
              </a:rPr>
              <a:t>Text - to - video Generation 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326725" y="1983416"/>
            <a:ext cx="8321285" cy="6943606"/>
            <a:chOff x="0" y="0"/>
            <a:chExt cx="2191614" cy="182876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91614" cy="1828769"/>
            </a:xfrm>
            <a:custGeom>
              <a:avLst/>
              <a:gdLst/>
              <a:ahLst/>
              <a:cxnLst/>
              <a:rect r="r" b="b" t="t" l="l"/>
              <a:pathLst>
                <a:path h="1828769" w="2191614">
                  <a:moveTo>
                    <a:pt x="27911" y="0"/>
                  </a:moveTo>
                  <a:lnTo>
                    <a:pt x="2163703" y="0"/>
                  </a:lnTo>
                  <a:cubicBezTo>
                    <a:pt x="2171106" y="0"/>
                    <a:pt x="2178205" y="2941"/>
                    <a:pt x="2183439" y="8175"/>
                  </a:cubicBezTo>
                  <a:cubicBezTo>
                    <a:pt x="2188674" y="13409"/>
                    <a:pt x="2191614" y="20509"/>
                    <a:pt x="2191614" y="27911"/>
                  </a:cubicBezTo>
                  <a:lnTo>
                    <a:pt x="2191614" y="1800858"/>
                  </a:lnTo>
                  <a:cubicBezTo>
                    <a:pt x="2191614" y="1816272"/>
                    <a:pt x="2179118" y="1828769"/>
                    <a:pt x="2163703" y="1828769"/>
                  </a:cubicBezTo>
                  <a:lnTo>
                    <a:pt x="27911" y="1828769"/>
                  </a:lnTo>
                  <a:cubicBezTo>
                    <a:pt x="12496" y="1828769"/>
                    <a:pt x="0" y="1816272"/>
                    <a:pt x="0" y="1800858"/>
                  </a:cubicBezTo>
                  <a:lnTo>
                    <a:pt x="0" y="27911"/>
                  </a:lnTo>
                  <a:cubicBezTo>
                    <a:pt x="0" y="12496"/>
                    <a:pt x="12496" y="0"/>
                    <a:pt x="27911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A6A6A6"/>
              </a:solidFill>
              <a:prstDash val="solid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2191614" cy="18668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9868678" y="3075703"/>
            <a:ext cx="8135317" cy="12394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1"/>
              </a:lnSpc>
            </a:pPr>
            <a:r>
              <a:rPr lang="en-US" sz="1699" spc="-50" b="true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Step 1 — Understand the Image &amp; Prompt</a:t>
            </a:r>
          </a:p>
          <a:p>
            <a:pPr algn="l" marL="367029" indent="-183514" lvl="1">
              <a:lnSpc>
                <a:spcPts val="2481"/>
              </a:lnSpc>
              <a:buFont typeface="Arial"/>
              <a:buChar char="•"/>
            </a:pPr>
            <a:r>
              <a:rPr lang="en-US" sz="1699" spc="-50">
                <a:solidFill>
                  <a:srgbClr val="1B1B1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User provides an image and opti</a:t>
            </a:r>
            <a:r>
              <a:rPr lang="en-US" sz="1699" spc="-50">
                <a:solidFill>
                  <a:srgbClr val="1B1B1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onal text prompt.</a:t>
            </a:r>
          </a:p>
          <a:p>
            <a:pPr algn="l" marL="367029" indent="-183514" lvl="1">
              <a:lnSpc>
                <a:spcPts val="2481"/>
              </a:lnSpc>
              <a:buFont typeface="Arial"/>
              <a:buChar char="•"/>
            </a:pPr>
            <a:r>
              <a:rPr lang="en-US" sz="1699" spc="-50">
                <a:solidFill>
                  <a:srgbClr val="1B1B1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AI analyzes the image (objects, background, lighting) and converts the prompt into numerical embeddings.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841859" y="4483244"/>
            <a:ext cx="8135317" cy="12394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1"/>
              </a:lnSpc>
            </a:pPr>
            <a:r>
              <a:rPr lang="en-US" sz="1699" spc="-50" b="true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Step 2 — Plan Motion</a:t>
            </a:r>
          </a:p>
          <a:p>
            <a:pPr algn="l" marL="367029" indent="-183514" lvl="1">
              <a:lnSpc>
                <a:spcPts val="2481"/>
              </a:lnSpc>
              <a:buFont typeface="Arial"/>
              <a:buChar char="•"/>
            </a:pPr>
            <a:r>
              <a:rPr lang="en-US" sz="1699" spc="-50">
                <a:solidFill>
                  <a:srgbClr val="1B1B1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The model predicts how objects and the camera should move over time.</a:t>
            </a:r>
          </a:p>
          <a:p>
            <a:pPr algn="l" marL="367029" indent="-183514" lvl="1">
              <a:lnSpc>
                <a:spcPts val="2481"/>
              </a:lnSpc>
              <a:buFont typeface="Arial"/>
              <a:buChar char="•"/>
            </a:pPr>
            <a:r>
              <a:rPr lang="en-US" sz="1699" spc="-50">
                <a:solidFill>
                  <a:srgbClr val="1B1B1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Crea</a:t>
            </a:r>
            <a:r>
              <a:rPr lang="en-US" sz="1699" spc="-50">
                <a:solidFill>
                  <a:srgbClr val="1B1B1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tes a temporal motion plan for the video.</a:t>
            </a:r>
          </a:p>
          <a:p>
            <a:pPr algn="l">
              <a:lnSpc>
                <a:spcPts val="2481"/>
              </a:lnSpc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9868678" y="5576350"/>
            <a:ext cx="8135317" cy="9250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1"/>
              </a:lnSpc>
            </a:pPr>
            <a:r>
              <a:rPr lang="en-US" sz="1699" spc="-50" b="true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Step 3 — Genera</a:t>
            </a:r>
            <a:r>
              <a:rPr lang="en-US" sz="1699" spc="-50" b="true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te Frames</a:t>
            </a:r>
          </a:p>
          <a:p>
            <a:pPr algn="l" marL="367029" indent="-183514" lvl="1">
              <a:lnSpc>
                <a:spcPts val="2481"/>
              </a:lnSpc>
              <a:buFont typeface="Arial"/>
              <a:buChar char="•"/>
            </a:pPr>
            <a:r>
              <a:rPr lang="en-US" sz="1699" spc="-50">
                <a:solidFill>
                  <a:srgbClr val="1B1B1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Uses diffusion models to create frames.</a:t>
            </a:r>
          </a:p>
          <a:p>
            <a:pPr algn="l" marL="367029" indent="-183514" lvl="1">
              <a:lnSpc>
                <a:spcPts val="2481"/>
              </a:lnSpc>
              <a:buFont typeface="Arial"/>
              <a:buChar char="•"/>
            </a:pPr>
            <a:r>
              <a:rPr lang="en-US" sz="1699" spc="-50">
                <a:solidFill>
                  <a:srgbClr val="1B1B1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</a:t>
            </a:r>
            <a:r>
              <a:rPr lang="en-US" sz="1699" spc="-50">
                <a:solidFill>
                  <a:srgbClr val="1B1B1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tarts with random noise → gradually r</a:t>
            </a:r>
            <a:r>
              <a:rPr lang="en-US" sz="1699" spc="-50">
                <a:solidFill>
                  <a:srgbClr val="1B1B1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emoves</a:t>
            </a:r>
            <a:r>
              <a:rPr lang="en-US" sz="1699" spc="-50">
                <a:solidFill>
                  <a:srgbClr val="1B1B1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noise → produces clear frames.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841859" y="6672863"/>
            <a:ext cx="8135317" cy="15537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1"/>
              </a:lnSpc>
            </a:pPr>
            <a:r>
              <a:rPr lang="en-US" sz="1699" spc="-50" b="true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Step 4 — Render F</a:t>
            </a:r>
            <a:r>
              <a:rPr lang="en-US" sz="1699" spc="-50" b="true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inal Video</a:t>
            </a:r>
          </a:p>
          <a:p>
            <a:pPr algn="l" marL="367029" indent="-183514" lvl="1">
              <a:lnSpc>
                <a:spcPts val="2481"/>
              </a:lnSpc>
              <a:buFont typeface="Arial"/>
              <a:buChar char="•"/>
            </a:pPr>
            <a:r>
              <a:rPr lang="en-US" sz="1699" spc="-50">
                <a:solidFill>
                  <a:srgbClr val="1B1B1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Ensures consistency across frames for smooth motion.</a:t>
            </a:r>
          </a:p>
          <a:p>
            <a:pPr algn="l" marL="367029" indent="-183514" lvl="1">
              <a:lnSpc>
                <a:spcPts val="2481"/>
              </a:lnSpc>
              <a:buFont typeface="Arial"/>
              <a:buChar char="•"/>
            </a:pPr>
            <a:r>
              <a:rPr lang="en-US" sz="1699" spc="-50">
                <a:solidFill>
                  <a:srgbClr val="1B1B1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Frames are combined into a short cinematic video clip (around 4–15 seconds). </a:t>
            </a:r>
          </a:p>
          <a:p>
            <a:pPr algn="l">
              <a:lnSpc>
                <a:spcPts val="2481"/>
              </a:lnSpc>
            </a:pPr>
          </a:p>
          <a:p>
            <a:pPr algn="l">
              <a:lnSpc>
                <a:spcPts val="2481"/>
              </a:lnSpc>
            </a:pPr>
          </a:p>
        </p:txBody>
      </p:sp>
      <p:sp>
        <p:nvSpPr>
          <p:cNvPr name="TextBox 22" id="22"/>
          <p:cNvSpPr txBox="true"/>
          <p:nvPr/>
        </p:nvSpPr>
        <p:spPr>
          <a:xfrm rot="0">
            <a:off x="11435848" y="2233968"/>
            <a:ext cx="8135317" cy="5263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0"/>
              </a:lnSpc>
              <a:spcBef>
                <a:spcPct val="0"/>
              </a:spcBef>
            </a:pPr>
            <a:r>
              <a:rPr lang="en-US" sz="2900" spc="-188" u="sng">
                <a:solidFill>
                  <a:srgbClr val="1B1B1B"/>
                </a:solidFill>
                <a:latin typeface="Telegraf"/>
                <a:ea typeface="Telegraf"/>
                <a:cs typeface="Telegraf"/>
                <a:sym typeface="Telegraf"/>
              </a:rPr>
              <a:t>Image - to - video Generation 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04923" y="-148528"/>
            <a:ext cx="19097845" cy="1177228"/>
            <a:chOff x="0" y="0"/>
            <a:chExt cx="5029885" cy="31005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29885" cy="310052"/>
            </a:xfrm>
            <a:custGeom>
              <a:avLst/>
              <a:gdLst/>
              <a:ahLst/>
              <a:cxnLst/>
              <a:rect r="r" b="b" t="t" l="l"/>
              <a:pathLst>
                <a:path h="310052" w="5029885">
                  <a:moveTo>
                    <a:pt x="0" y="0"/>
                  </a:moveTo>
                  <a:lnTo>
                    <a:pt x="5029885" y="0"/>
                  </a:lnTo>
                  <a:lnTo>
                    <a:pt x="5029885" y="310052"/>
                  </a:lnTo>
                  <a:lnTo>
                    <a:pt x="0" y="310052"/>
                  </a:lnTo>
                  <a:close/>
                </a:path>
              </a:pathLst>
            </a:custGeom>
            <a:solidFill>
              <a:srgbClr val="1B1B1B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029885" cy="3481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997203" y="425242"/>
            <a:ext cx="262097" cy="174622"/>
          </a:xfrm>
          <a:custGeom>
            <a:avLst/>
            <a:gdLst/>
            <a:ahLst/>
            <a:cxnLst/>
            <a:rect r="r" b="b" t="t" l="l"/>
            <a:pathLst>
              <a:path h="174622" w="262097">
                <a:moveTo>
                  <a:pt x="0" y="0"/>
                </a:moveTo>
                <a:lnTo>
                  <a:pt x="262097" y="0"/>
                </a:lnTo>
                <a:lnTo>
                  <a:pt x="262097" y="174622"/>
                </a:lnTo>
                <a:lnTo>
                  <a:pt x="0" y="1746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-5400000">
            <a:off x="4905622" y="1605127"/>
            <a:ext cx="47625" cy="7801468"/>
            <a:chOff x="0" y="0"/>
            <a:chExt cx="12543" cy="205470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543" cy="2054708"/>
            </a:xfrm>
            <a:custGeom>
              <a:avLst/>
              <a:gdLst/>
              <a:ahLst/>
              <a:cxnLst/>
              <a:rect r="r" b="b" t="t" l="l"/>
              <a:pathLst>
                <a:path h="2054708" w="12543">
                  <a:moveTo>
                    <a:pt x="6272" y="0"/>
                  </a:moveTo>
                  <a:lnTo>
                    <a:pt x="6272" y="0"/>
                  </a:lnTo>
                  <a:cubicBezTo>
                    <a:pt x="7935" y="0"/>
                    <a:pt x="9530" y="661"/>
                    <a:pt x="10706" y="1837"/>
                  </a:cubicBezTo>
                  <a:cubicBezTo>
                    <a:pt x="11882" y="3013"/>
                    <a:pt x="12543" y="4608"/>
                    <a:pt x="12543" y="6272"/>
                  </a:cubicBezTo>
                  <a:lnTo>
                    <a:pt x="12543" y="2048436"/>
                  </a:lnTo>
                  <a:cubicBezTo>
                    <a:pt x="12543" y="2050099"/>
                    <a:pt x="11882" y="2051695"/>
                    <a:pt x="10706" y="2052871"/>
                  </a:cubicBezTo>
                  <a:cubicBezTo>
                    <a:pt x="9530" y="2054047"/>
                    <a:pt x="7935" y="2054708"/>
                    <a:pt x="6272" y="2054708"/>
                  </a:cubicBezTo>
                  <a:lnTo>
                    <a:pt x="6272" y="2054708"/>
                  </a:lnTo>
                  <a:cubicBezTo>
                    <a:pt x="4608" y="2054708"/>
                    <a:pt x="3013" y="2054047"/>
                    <a:pt x="1837" y="2052871"/>
                  </a:cubicBezTo>
                  <a:cubicBezTo>
                    <a:pt x="661" y="2051695"/>
                    <a:pt x="0" y="2050099"/>
                    <a:pt x="0" y="2048436"/>
                  </a:cubicBezTo>
                  <a:lnTo>
                    <a:pt x="0" y="6272"/>
                  </a:lnTo>
                  <a:cubicBezTo>
                    <a:pt x="0" y="4608"/>
                    <a:pt x="661" y="3013"/>
                    <a:pt x="1837" y="1837"/>
                  </a:cubicBezTo>
                  <a:cubicBezTo>
                    <a:pt x="3013" y="661"/>
                    <a:pt x="4608" y="0"/>
                    <a:pt x="6272" y="0"/>
                  </a:cubicBezTo>
                  <a:close/>
                </a:path>
              </a:pathLst>
            </a:custGeom>
            <a:solidFill>
              <a:srgbClr val="A6A6A6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2543" cy="20928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527574" y="5243317"/>
            <a:ext cx="7801468" cy="1345582"/>
            <a:chOff x="0" y="0"/>
            <a:chExt cx="2054708" cy="35439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054708" cy="354392"/>
            </a:xfrm>
            <a:custGeom>
              <a:avLst/>
              <a:gdLst/>
              <a:ahLst/>
              <a:cxnLst/>
              <a:rect r="r" b="b" t="t" l="l"/>
              <a:pathLst>
                <a:path h="354392" w="2054708">
                  <a:moveTo>
                    <a:pt x="29771" y="0"/>
                  </a:moveTo>
                  <a:lnTo>
                    <a:pt x="2024937" y="0"/>
                  </a:lnTo>
                  <a:cubicBezTo>
                    <a:pt x="2041379" y="0"/>
                    <a:pt x="2054708" y="13329"/>
                    <a:pt x="2054708" y="29771"/>
                  </a:cubicBezTo>
                  <a:lnTo>
                    <a:pt x="2054708" y="324621"/>
                  </a:lnTo>
                  <a:cubicBezTo>
                    <a:pt x="2054708" y="341063"/>
                    <a:pt x="2041379" y="354392"/>
                    <a:pt x="2024937" y="354392"/>
                  </a:cubicBezTo>
                  <a:lnTo>
                    <a:pt x="29771" y="354392"/>
                  </a:lnTo>
                  <a:cubicBezTo>
                    <a:pt x="13329" y="354392"/>
                    <a:pt x="0" y="341063"/>
                    <a:pt x="0" y="324621"/>
                  </a:cubicBezTo>
                  <a:lnTo>
                    <a:pt x="0" y="29771"/>
                  </a:lnTo>
                  <a:cubicBezTo>
                    <a:pt x="0" y="13329"/>
                    <a:pt x="13329" y="0"/>
                    <a:pt x="29771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A6A6A6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054708" cy="3924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28700" y="7197857"/>
            <a:ext cx="7801468" cy="2060443"/>
            <a:chOff x="0" y="0"/>
            <a:chExt cx="2054708" cy="54266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054708" cy="542668"/>
            </a:xfrm>
            <a:custGeom>
              <a:avLst/>
              <a:gdLst/>
              <a:ahLst/>
              <a:cxnLst/>
              <a:rect r="r" b="b" t="t" l="l"/>
              <a:pathLst>
                <a:path h="542668" w="2054708">
                  <a:moveTo>
                    <a:pt x="29771" y="0"/>
                  </a:moveTo>
                  <a:lnTo>
                    <a:pt x="2024937" y="0"/>
                  </a:lnTo>
                  <a:cubicBezTo>
                    <a:pt x="2041379" y="0"/>
                    <a:pt x="2054708" y="13329"/>
                    <a:pt x="2054708" y="29771"/>
                  </a:cubicBezTo>
                  <a:lnTo>
                    <a:pt x="2054708" y="512897"/>
                  </a:lnTo>
                  <a:cubicBezTo>
                    <a:pt x="2054708" y="529339"/>
                    <a:pt x="2041379" y="542668"/>
                    <a:pt x="2024937" y="542668"/>
                  </a:cubicBezTo>
                  <a:lnTo>
                    <a:pt x="29771" y="542668"/>
                  </a:lnTo>
                  <a:cubicBezTo>
                    <a:pt x="13329" y="542668"/>
                    <a:pt x="0" y="529339"/>
                    <a:pt x="0" y="512897"/>
                  </a:cubicBezTo>
                  <a:lnTo>
                    <a:pt x="0" y="29771"/>
                  </a:lnTo>
                  <a:cubicBezTo>
                    <a:pt x="0" y="13329"/>
                    <a:pt x="13329" y="0"/>
                    <a:pt x="29771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A6A6A6"/>
              </a:soli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054708" cy="5807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9528526" y="2194146"/>
            <a:ext cx="636303" cy="636303"/>
          </a:xfrm>
          <a:custGeom>
            <a:avLst/>
            <a:gdLst/>
            <a:ahLst/>
            <a:cxnLst/>
            <a:rect r="r" b="b" t="t" l="l"/>
            <a:pathLst>
              <a:path h="636303" w="636303">
                <a:moveTo>
                  <a:pt x="0" y="0"/>
                </a:moveTo>
                <a:lnTo>
                  <a:pt x="636303" y="0"/>
                </a:lnTo>
                <a:lnTo>
                  <a:pt x="636303" y="636303"/>
                </a:lnTo>
                <a:lnTo>
                  <a:pt x="0" y="63630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028700" y="1976531"/>
            <a:ext cx="8429132" cy="2833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92"/>
              </a:lnSpc>
            </a:pPr>
            <a:r>
              <a:rPr lang="en-US" sz="10592" spc="-720" b="true">
                <a:solidFill>
                  <a:srgbClr val="1B1B1B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Concerns and Challenges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28700" y="5547155"/>
            <a:ext cx="8115300" cy="1499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sz="4200" spc="-273">
                <a:solidFill>
                  <a:srgbClr val="A6A6A6"/>
                </a:solidFill>
                <a:latin typeface="Telegraf"/>
                <a:ea typeface="Telegraf"/>
                <a:cs typeface="Telegraf"/>
                <a:sym typeface="Telegraf"/>
              </a:rPr>
              <a:t>Seedance 2.0 has triggered debate around AI copyright and ownership.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164829" y="6030110"/>
            <a:ext cx="6526958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9"/>
              </a:lnSpc>
            </a:pPr>
            <a:r>
              <a:rPr lang="en-US" sz="1799" spc="-53">
                <a:solidFill>
                  <a:srgbClr val="1B1B1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Realistic video generation can enable deepfake content.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164829" y="5554690"/>
            <a:ext cx="6526958" cy="279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9"/>
              </a:lnSpc>
            </a:pPr>
            <a:r>
              <a:rPr lang="en-US" b="true" sz="1799" i="true" spc="-53">
                <a:solidFill>
                  <a:srgbClr val="1B1B1B"/>
                </a:solidFill>
                <a:latin typeface="Helvetica World Bold Italics"/>
                <a:ea typeface="Helvetica World Bold Italics"/>
                <a:cs typeface="Helvetica World Bold Italics"/>
                <a:sym typeface="Helvetica World Bold Italics"/>
              </a:rPr>
              <a:t>Issue 3 — Deepfakes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665955" y="8090510"/>
            <a:ext cx="6526958" cy="752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99"/>
              </a:lnSpc>
            </a:pPr>
            <a:r>
              <a:rPr lang="en-US" sz="1999" spc="-59">
                <a:solidFill>
                  <a:srgbClr val="1B1B1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Models are trained on massive internet datasets.</a:t>
            </a:r>
          </a:p>
          <a:p>
            <a:pPr algn="l">
              <a:lnSpc>
                <a:spcPts val="3199"/>
              </a:lnSpc>
            </a:pPr>
            <a:r>
              <a:rPr lang="en-US" sz="1999" spc="-59">
                <a:solidFill>
                  <a:srgbClr val="1B1B1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Creators argue their work was used without permission.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665955" y="7632172"/>
            <a:ext cx="6526958" cy="279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9"/>
              </a:lnSpc>
            </a:pPr>
            <a:r>
              <a:rPr lang="en-US" b="true" sz="1799" i="true" spc="-53">
                <a:solidFill>
                  <a:srgbClr val="1B1B1B"/>
                </a:solidFill>
                <a:latin typeface="Helvetica World Bold Italics"/>
                <a:ea typeface="Helvetica World Bold Italics"/>
                <a:cs typeface="Helvetica World Bold Italics"/>
                <a:sym typeface="Helvetica World Bold Italics"/>
              </a:rPr>
              <a:t>Issue 1 — Training Data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9527574" y="3030474"/>
            <a:ext cx="7801468" cy="2060443"/>
            <a:chOff x="0" y="0"/>
            <a:chExt cx="2054708" cy="54266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054708" cy="542668"/>
            </a:xfrm>
            <a:custGeom>
              <a:avLst/>
              <a:gdLst/>
              <a:ahLst/>
              <a:cxnLst/>
              <a:rect r="r" b="b" t="t" l="l"/>
              <a:pathLst>
                <a:path h="542668" w="2054708">
                  <a:moveTo>
                    <a:pt x="29771" y="0"/>
                  </a:moveTo>
                  <a:lnTo>
                    <a:pt x="2024937" y="0"/>
                  </a:lnTo>
                  <a:cubicBezTo>
                    <a:pt x="2041379" y="0"/>
                    <a:pt x="2054708" y="13329"/>
                    <a:pt x="2054708" y="29771"/>
                  </a:cubicBezTo>
                  <a:lnTo>
                    <a:pt x="2054708" y="512897"/>
                  </a:lnTo>
                  <a:cubicBezTo>
                    <a:pt x="2054708" y="529339"/>
                    <a:pt x="2041379" y="542668"/>
                    <a:pt x="2024937" y="542668"/>
                  </a:cubicBezTo>
                  <a:lnTo>
                    <a:pt x="29771" y="542668"/>
                  </a:lnTo>
                  <a:cubicBezTo>
                    <a:pt x="13329" y="542668"/>
                    <a:pt x="0" y="529339"/>
                    <a:pt x="0" y="512897"/>
                  </a:cubicBezTo>
                  <a:lnTo>
                    <a:pt x="0" y="29771"/>
                  </a:lnTo>
                  <a:cubicBezTo>
                    <a:pt x="0" y="13329"/>
                    <a:pt x="13329" y="0"/>
                    <a:pt x="29771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A6A6A6"/>
              </a:solidFill>
              <a:prstDash val="solid"/>
              <a:round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2054708" cy="5807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10164829" y="3834618"/>
            <a:ext cx="6526958" cy="752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99"/>
              </a:lnSpc>
            </a:pPr>
            <a:r>
              <a:rPr lang="en-US" sz="1999" spc="-59">
                <a:solidFill>
                  <a:srgbClr val="1B1B1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Seedance can generate videos in the style of specific creators.</a:t>
            </a:r>
          </a:p>
          <a:p>
            <a:pPr algn="l">
              <a:lnSpc>
                <a:spcPts val="3199"/>
              </a:lnSpc>
            </a:pPr>
            <a:r>
              <a:rPr lang="en-US" sz="1999" spc="-59">
                <a:solidFill>
                  <a:srgbClr val="1B1B1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Artists argue this copies their artistic style.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164829" y="3464789"/>
            <a:ext cx="6526958" cy="279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9"/>
              </a:lnSpc>
            </a:pPr>
            <a:r>
              <a:rPr lang="en-US" b="true" sz="1799" i="true" spc="-53">
                <a:solidFill>
                  <a:srgbClr val="1B1B1B"/>
                </a:solidFill>
                <a:latin typeface="Helvetica World Bold Italics"/>
                <a:ea typeface="Helvetica World Bold Italics"/>
                <a:cs typeface="Helvetica World Bold Italics"/>
                <a:sym typeface="Helvetica World Bold Italics"/>
              </a:rPr>
              <a:t>Issue 2 — Style Replication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9527574" y="6741299"/>
            <a:ext cx="7801468" cy="2517001"/>
            <a:chOff x="0" y="0"/>
            <a:chExt cx="2054708" cy="662914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054708" cy="662914"/>
            </a:xfrm>
            <a:custGeom>
              <a:avLst/>
              <a:gdLst/>
              <a:ahLst/>
              <a:cxnLst/>
              <a:rect r="r" b="b" t="t" l="l"/>
              <a:pathLst>
                <a:path h="662914" w="2054708">
                  <a:moveTo>
                    <a:pt x="29771" y="0"/>
                  </a:moveTo>
                  <a:lnTo>
                    <a:pt x="2024937" y="0"/>
                  </a:lnTo>
                  <a:cubicBezTo>
                    <a:pt x="2041379" y="0"/>
                    <a:pt x="2054708" y="13329"/>
                    <a:pt x="2054708" y="29771"/>
                  </a:cubicBezTo>
                  <a:lnTo>
                    <a:pt x="2054708" y="633143"/>
                  </a:lnTo>
                  <a:cubicBezTo>
                    <a:pt x="2054708" y="649585"/>
                    <a:pt x="2041379" y="662914"/>
                    <a:pt x="2024937" y="662914"/>
                  </a:cubicBezTo>
                  <a:lnTo>
                    <a:pt x="29771" y="662914"/>
                  </a:lnTo>
                  <a:cubicBezTo>
                    <a:pt x="13329" y="662914"/>
                    <a:pt x="0" y="649585"/>
                    <a:pt x="0" y="633143"/>
                  </a:cubicBezTo>
                  <a:lnTo>
                    <a:pt x="0" y="29771"/>
                  </a:lnTo>
                  <a:cubicBezTo>
                    <a:pt x="0" y="13329"/>
                    <a:pt x="13329" y="0"/>
                    <a:pt x="29771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A6A6A6"/>
              </a:solidFill>
              <a:prstDash val="solid"/>
              <a:round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2054708" cy="7010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10164829" y="7439799"/>
            <a:ext cx="6526958" cy="1539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99"/>
              </a:lnSpc>
            </a:pPr>
            <a:r>
              <a:rPr lang="en-US" sz="1999" spc="-59">
                <a:solidFill>
                  <a:srgbClr val="1B1B1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It is still unclear who owns AI-generated videos:</a:t>
            </a:r>
          </a:p>
          <a:p>
            <a:pPr algn="l" marL="431797" indent="-215899" lvl="1">
              <a:lnSpc>
                <a:spcPts val="3199"/>
              </a:lnSpc>
              <a:buFont typeface="Arial"/>
              <a:buChar char="•"/>
            </a:pPr>
            <a:r>
              <a:rPr lang="en-US" sz="1999" spc="-59">
                <a:solidFill>
                  <a:srgbClr val="1B1B1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the user</a:t>
            </a:r>
          </a:p>
          <a:p>
            <a:pPr algn="l" marL="431797" indent="-215899" lvl="1">
              <a:lnSpc>
                <a:spcPts val="3199"/>
              </a:lnSpc>
              <a:buFont typeface="Arial"/>
              <a:buChar char="•"/>
            </a:pPr>
            <a:r>
              <a:rPr lang="en-US" sz="1999" spc="-59">
                <a:solidFill>
                  <a:srgbClr val="1B1B1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the AI company</a:t>
            </a:r>
          </a:p>
          <a:p>
            <a:pPr algn="l" marL="431797" indent="-215899" lvl="1">
              <a:lnSpc>
                <a:spcPts val="3199"/>
              </a:lnSpc>
              <a:buFont typeface="Arial"/>
              <a:buChar char="•"/>
            </a:pPr>
            <a:r>
              <a:rPr lang="en-US" sz="1999" spc="-59">
                <a:solidFill>
                  <a:srgbClr val="1B1B1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or the dataset creators.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0164829" y="7074674"/>
            <a:ext cx="6526958" cy="279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9"/>
              </a:lnSpc>
            </a:pPr>
            <a:r>
              <a:rPr lang="en-US" b="true" sz="1799" i="true" spc="-53">
                <a:solidFill>
                  <a:srgbClr val="1B1B1B"/>
                </a:solidFill>
                <a:latin typeface="Helvetica World Bold Italics"/>
                <a:ea typeface="Helvetica World Bold Italics"/>
                <a:cs typeface="Helvetica World Bold Italics"/>
                <a:sym typeface="Helvetica World Bold Italics"/>
              </a:rPr>
              <a:t>Issue 4 — Ownership of Generated Content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04923" y="-148528"/>
            <a:ext cx="19097845" cy="1177228"/>
            <a:chOff x="0" y="0"/>
            <a:chExt cx="5029885" cy="31005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29885" cy="310052"/>
            </a:xfrm>
            <a:custGeom>
              <a:avLst/>
              <a:gdLst/>
              <a:ahLst/>
              <a:cxnLst/>
              <a:rect r="r" b="b" t="t" l="l"/>
              <a:pathLst>
                <a:path h="310052" w="5029885">
                  <a:moveTo>
                    <a:pt x="0" y="0"/>
                  </a:moveTo>
                  <a:lnTo>
                    <a:pt x="5029885" y="0"/>
                  </a:lnTo>
                  <a:lnTo>
                    <a:pt x="5029885" y="310052"/>
                  </a:lnTo>
                  <a:lnTo>
                    <a:pt x="0" y="310052"/>
                  </a:lnTo>
                  <a:close/>
                </a:path>
              </a:pathLst>
            </a:custGeom>
            <a:solidFill>
              <a:srgbClr val="1B1B1B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029885" cy="3481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997203" y="425242"/>
            <a:ext cx="262097" cy="174622"/>
          </a:xfrm>
          <a:custGeom>
            <a:avLst/>
            <a:gdLst/>
            <a:ahLst/>
            <a:cxnLst/>
            <a:rect r="r" b="b" t="t" l="l"/>
            <a:pathLst>
              <a:path h="174622" w="262097">
                <a:moveTo>
                  <a:pt x="0" y="0"/>
                </a:moveTo>
                <a:lnTo>
                  <a:pt x="262097" y="0"/>
                </a:lnTo>
                <a:lnTo>
                  <a:pt x="262097" y="174622"/>
                </a:lnTo>
                <a:lnTo>
                  <a:pt x="0" y="1746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-5400000">
            <a:off x="15769471" y="678733"/>
            <a:ext cx="47625" cy="2932034"/>
            <a:chOff x="0" y="0"/>
            <a:chExt cx="12543" cy="77222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543" cy="772223"/>
            </a:xfrm>
            <a:custGeom>
              <a:avLst/>
              <a:gdLst/>
              <a:ahLst/>
              <a:cxnLst/>
              <a:rect r="r" b="b" t="t" l="l"/>
              <a:pathLst>
                <a:path h="772223" w="12543">
                  <a:moveTo>
                    <a:pt x="6272" y="0"/>
                  </a:moveTo>
                  <a:lnTo>
                    <a:pt x="6272" y="0"/>
                  </a:lnTo>
                  <a:cubicBezTo>
                    <a:pt x="7935" y="0"/>
                    <a:pt x="9530" y="661"/>
                    <a:pt x="10706" y="1837"/>
                  </a:cubicBezTo>
                  <a:cubicBezTo>
                    <a:pt x="11882" y="3013"/>
                    <a:pt x="12543" y="4608"/>
                    <a:pt x="12543" y="6272"/>
                  </a:cubicBezTo>
                  <a:lnTo>
                    <a:pt x="12543" y="765951"/>
                  </a:lnTo>
                  <a:cubicBezTo>
                    <a:pt x="12543" y="767615"/>
                    <a:pt x="11882" y="769210"/>
                    <a:pt x="10706" y="770386"/>
                  </a:cubicBezTo>
                  <a:cubicBezTo>
                    <a:pt x="9530" y="771562"/>
                    <a:pt x="7935" y="772223"/>
                    <a:pt x="6272" y="772223"/>
                  </a:cubicBezTo>
                  <a:lnTo>
                    <a:pt x="6272" y="772223"/>
                  </a:lnTo>
                  <a:cubicBezTo>
                    <a:pt x="4608" y="772223"/>
                    <a:pt x="3013" y="771562"/>
                    <a:pt x="1837" y="770386"/>
                  </a:cubicBezTo>
                  <a:cubicBezTo>
                    <a:pt x="661" y="769210"/>
                    <a:pt x="0" y="767615"/>
                    <a:pt x="0" y="765951"/>
                  </a:cubicBezTo>
                  <a:lnTo>
                    <a:pt x="0" y="6272"/>
                  </a:lnTo>
                  <a:cubicBezTo>
                    <a:pt x="0" y="4608"/>
                    <a:pt x="661" y="3013"/>
                    <a:pt x="1837" y="1837"/>
                  </a:cubicBezTo>
                  <a:cubicBezTo>
                    <a:pt x="3013" y="661"/>
                    <a:pt x="4608" y="0"/>
                    <a:pt x="6272" y="0"/>
                  </a:cubicBezTo>
                  <a:close/>
                </a:path>
              </a:pathLst>
            </a:custGeom>
            <a:solidFill>
              <a:srgbClr val="A6A6A6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2543" cy="8103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8921895" y="9085866"/>
            <a:ext cx="222105" cy="172434"/>
          </a:xfrm>
          <a:custGeom>
            <a:avLst/>
            <a:gdLst/>
            <a:ahLst/>
            <a:cxnLst/>
            <a:rect r="r" b="b" t="t" l="l"/>
            <a:pathLst>
              <a:path h="172434" w="222105">
                <a:moveTo>
                  <a:pt x="0" y="0"/>
                </a:moveTo>
                <a:lnTo>
                  <a:pt x="222105" y="0"/>
                </a:lnTo>
                <a:lnTo>
                  <a:pt x="222105" y="172434"/>
                </a:lnTo>
                <a:lnTo>
                  <a:pt x="0" y="1724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333861" y="2399654"/>
            <a:ext cx="7986810" cy="29819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24"/>
              </a:lnSpc>
            </a:pPr>
            <a:r>
              <a:rPr lang="en-US" sz="7524" spc="-511" b="true">
                <a:solidFill>
                  <a:srgbClr val="1B1B1B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Seedance 2.0 in Context of Recent AI Trends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021104" y="2332979"/>
            <a:ext cx="7053066" cy="2165057"/>
            <a:chOff x="0" y="0"/>
            <a:chExt cx="1857598" cy="57022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857598" cy="570221"/>
            </a:xfrm>
            <a:custGeom>
              <a:avLst/>
              <a:gdLst/>
              <a:ahLst/>
              <a:cxnLst/>
              <a:rect r="r" b="b" t="t" l="l"/>
              <a:pathLst>
                <a:path h="570221" w="1857598">
                  <a:moveTo>
                    <a:pt x="32930" y="0"/>
                  </a:moveTo>
                  <a:lnTo>
                    <a:pt x="1824668" y="0"/>
                  </a:lnTo>
                  <a:cubicBezTo>
                    <a:pt x="1842854" y="0"/>
                    <a:pt x="1857598" y="14743"/>
                    <a:pt x="1857598" y="32930"/>
                  </a:cubicBezTo>
                  <a:lnTo>
                    <a:pt x="1857598" y="537291"/>
                  </a:lnTo>
                  <a:cubicBezTo>
                    <a:pt x="1857598" y="555478"/>
                    <a:pt x="1842854" y="570221"/>
                    <a:pt x="1824668" y="570221"/>
                  </a:cubicBezTo>
                  <a:lnTo>
                    <a:pt x="32930" y="570221"/>
                  </a:lnTo>
                  <a:cubicBezTo>
                    <a:pt x="14743" y="570221"/>
                    <a:pt x="0" y="555478"/>
                    <a:pt x="0" y="537291"/>
                  </a:cubicBezTo>
                  <a:lnTo>
                    <a:pt x="0" y="32930"/>
                  </a:lnTo>
                  <a:cubicBezTo>
                    <a:pt x="0" y="14743"/>
                    <a:pt x="14743" y="0"/>
                    <a:pt x="32930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A6A6A6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857598" cy="6083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563757" y="2922623"/>
            <a:ext cx="6264165" cy="1373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18" indent="-194309" lvl="1">
              <a:lnSpc>
                <a:spcPts val="2159"/>
              </a:lnSpc>
              <a:buFont typeface="Arial"/>
              <a:buChar char="•"/>
            </a:pPr>
            <a:r>
              <a:rPr lang="en-US" sz="1799" spc="-53">
                <a:solidFill>
                  <a:srgbClr val="1B1B1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Part of the multimodal foundation model trend.</a:t>
            </a:r>
          </a:p>
          <a:p>
            <a:pPr algn="l" marL="388618" indent="-194309" lvl="1">
              <a:lnSpc>
                <a:spcPts val="3131"/>
              </a:lnSpc>
              <a:buFont typeface="Arial"/>
              <a:buChar char="•"/>
            </a:pPr>
            <a:r>
              <a:rPr lang="en-US" sz="1799" spc="-53">
                <a:solidFill>
                  <a:srgbClr val="1B1B1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Converts text or images into realistic videos using diffusion and transformer architectures.</a:t>
            </a:r>
          </a:p>
          <a:p>
            <a:pPr algn="l">
              <a:lnSpc>
                <a:spcPts val="3131"/>
              </a:lnSpc>
            </a:pPr>
            <a:r>
              <a:rPr lang="en-US" b="true" sz="1799" spc="-53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LLMs → Multimodal AI → Video generation models.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563757" y="2543661"/>
            <a:ext cx="5558021" cy="279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9"/>
              </a:lnSpc>
            </a:pPr>
            <a:r>
              <a:rPr lang="en-US" b="true" sz="1799" i="true" spc="-53">
                <a:solidFill>
                  <a:srgbClr val="1B1B1B"/>
                </a:solidFill>
                <a:latin typeface="Helvetica World Bold Italics"/>
                <a:ea typeface="Helvetica World Bold Italics"/>
                <a:cs typeface="Helvetica World Bold Italics"/>
                <a:sym typeface="Helvetica World Bold Italics"/>
              </a:rPr>
              <a:t>Trend in AI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021104" y="4735386"/>
            <a:ext cx="7053066" cy="2138904"/>
            <a:chOff x="0" y="0"/>
            <a:chExt cx="1857598" cy="56333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857598" cy="563333"/>
            </a:xfrm>
            <a:custGeom>
              <a:avLst/>
              <a:gdLst/>
              <a:ahLst/>
              <a:cxnLst/>
              <a:rect r="r" b="b" t="t" l="l"/>
              <a:pathLst>
                <a:path h="563333" w="1857598">
                  <a:moveTo>
                    <a:pt x="32930" y="0"/>
                  </a:moveTo>
                  <a:lnTo>
                    <a:pt x="1824668" y="0"/>
                  </a:lnTo>
                  <a:cubicBezTo>
                    <a:pt x="1842854" y="0"/>
                    <a:pt x="1857598" y="14743"/>
                    <a:pt x="1857598" y="32930"/>
                  </a:cubicBezTo>
                  <a:lnTo>
                    <a:pt x="1857598" y="530403"/>
                  </a:lnTo>
                  <a:cubicBezTo>
                    <a:pt x="1857598" y="548589"/>
                    <a:pt x="1842854" y="563333"/>
                    <a:pt x="1824668" y="563333"/>
                  </a:cubicBezTo>
                  <a:lnTo>
                    <a:pt x="32930" y="563333"/>
                  </a:lnTo>
                  <a:cubicBezTo>
                    <a:pt x="14743" y="563333"/>
                    <a:pt x="0" y="548589"/>
                    <a:pt x="0" y="530403"/>
                  </a:cubicBezTo>
                  <a:lnTo>
                    <a:pt x="0" y="32930"/>
                  </a:lnTo>
                  <a:cubicBezTo>
                    <a:pt x="0" y="14743"/>
                    <a:pt x="14743" y="0"/>
                    <a:pt x="32930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A6A6A6"/>
              </a:solidFill>
              <a:prstDash val="solid"/>
              <a:round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857598" cy="601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583918" y="5341702"/>
            <a:ext cx="6264165" cy="1309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67029" indent="-183514" lvl="1">
              <a:lnSpc>
                <a:spcPts val="2617"/>
              </a:lnSpc>
              <a:buFont typeface="Arial"/>
              <a:buChar char="•"/>
            </a:pPr>
            <a:r>
              <a:rPr lang="en-US" sz="1699" spc="-50">
                <a:solidFill>
                  <a:srgbClr val="1B1B1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Seedance 2.0 is a Generative AI model focused on video synthesis.</a:t>
            </a:r>
          </a:p>
          <a:p>
            <a:pPr algn="l" marL="367029" indent="-183514" lvl="1">
              <a:lnSpc>
                <a:spcPts val="2617"/>
              </a:lnSpc>
              <a:buFont typeface="Arial"/>
              <a:buChar char="•"/>
            </a:pPr>
            <a:r>
              <a:rPr lang="en-US" sz="1699" spc="-50">
                <a:solidFill>
                  <a:srgbClr val="1B1B1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Supports text-to-video and image-to-video creation.</a:t>
            </a:r>
          </a:p>
          <a:p>
            <a:pPr algn="l">
              <a:lnSpc>
                <a:spcPts val="3144"/>
              </a:lnSpc>
            </a:pPr>
            <a:r>
              <a:rPr lang="en-US" b="true" sz="1699" spc="-50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Prompt → Multimodal Model → Frame Generation → AI Video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563757" y="4940089"/>
            <a:ext cx="5558021" cy="279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9"/>
              </a:lnSpc>
            </a:pPr>
            <a:r>
              <a:rPr lang="en-US" b="true" sz="1799" i="true" spc="-53">
                <a:solidFill>
                  <a:srgbClr val="1B1B1B"/>
                </a:solidFill>
                <a:latin typeface="Helvetica World Bold Italics"/>
                <a:ea typeface="Helvetica World Bold Italics"/>
                <a:cs typeface="Helvetica World Bold Italics"/>
                <a:sym typeface="Helvetica World Bold Italics"/>
              </a:rPr>
              <a:t>Trend in Generative AI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041264" y="7111640"/>
            <a:ext cx="7032906" cy="2060443"/>
            <a:chOff x="0" y="0"/>
            <a:chExt cx="1852288" cy="54266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852288" cy="542668"/>
            </a:xfrm>
            <a:custGeom>
              <a:avLst/>
              <a:gdLst/>
              <a:ahLst/>
              <a:cxnLst/>
              <a:rect r="r" b="b" t="t" l="l"/>
              <a:pathLst>
                <a:path h="542668" w="1852288">
                  <a:moveTo>
                    <a:pt x="33024" y="0"/>
                  </a:moveTo>
                  <a:lnTo>
                    <a:pt x="1819264" y="0"/>
                  </a:lnTo>
                  <a:cubicBezTo>
                    <a:pt x="1828022" y="0"/>
                    <a:pt x="1836422" y="3479"/>
                    <a:pt x="1842615" y="9673"/>
                  </a:cubicBezTo>
                  <a:cubicBezTo>
                    <a:pt x="1848809" y="15866"/>
                    <a:pt x="1852288" y="24266"/>
                    <a:pt x="1852288" y="33024"/>
                  </a:cubicBezTo>
                  <a:lnTo>
                    <a:pt x="1852288" y="509644"/>
                  </a:lnTo>
                  <a:cubicBezTo>
                    <a:pt x="1852288" y="518402"/>
                    <a:pt x="1848809" y="526802"/>
                    <a:pt x="1842615" y="532996"/>
                  </a:cubicBezTo>
                  <a:cubicBezTo>
                    <a:pt x="1836422" y="539189"/>
                    <a:pt x="1828022" y="542668"/>
                    <a:pt x="1819264" y="542668"/>
                  </a:cubicBezTo>
                  <a:lnTo>
                    <a:pt x="33024" y="542668"/>
                  </a:lnTo>
                  <a:cubicBezTo>
                    <a:pt x="24266" y="542668"/>
                    <a:pt x="15866" y="539189"/>
                    <a:pt x="9673" y="532996"/>
                  </a:cubicBezTo>
                  <a:cubicBezTo>
                    <a:pt x="3479" y="526802"/>
                    <a:pt x="0" y="518402"/>
                    <a:pt x="0" y="509644"/>
                  </a:cubicBezTo>
                  <a:lnTo>
                    <a:pt x="0" y="33024"/>
                  </a:lnTo>
                  <a:cubicBezTo>
                    <a:pt x="0" y="24266"/>
                    <a:pt x="3479" y="15866"/>
                    <a:pt x="9673" y="9673"/>
                  </a:cubicBezTo>
                  <a:cubicBezTo>
                    <a:pt x="15866" y="3479"/>
                    <a:pt x="24266" y="0"/>
                    <a:pt x="33024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A6A6A6"/>
              </a:solidFill>
              <a:prstDash val="solid"/>
              <a:round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1852288" cy="5807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1583918" y="7654437"/>
            <a:ext cx="5558021" cy="13559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18" indent="-194309" lvl="1">
              <a:lnSpc>
                <a:spcPts val="2807"/>
              </a:lnSpc>
              <a:buFont typeface="Arial"/>
              <a:buChar char="•"/>
            </a:pPr>
            <a:r>
              <a:rPr lang="en-US" sz="1799" spc="-53">
                <a:solidFill>
                  <a:srgbClr val="1B1B1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Seedance fits into creative AI agents.</a:t>
            </a:r>
          </a:p>
          <a:p>
            <a:pPr algn="l" marL="388618" indent="-194309" lvl="1">
              <a:lnSpc>
                <a:spcPts val="2807"/>
              </a:lnSpc>
              <a:buFont typeface="Arial"/>
              <a:buChar char="•"/>
            </a:pPr>
            <a:r>
              <a:rPr lang="en-US" sz="1799" spc="-53">
                <a:solidFill>
                  <a:srgbClr val="1B1B1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Can be integrated into AI agents that automatically plan scenes, generate frames, and create complete videos from prompts.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583918" y="7283090"/>
            <a:ext cx="5558021" cy="279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9"/>
              </a:lnSpc>
            </a:pPr>
            <a:r>
              <a:rPr lang="en-US" b="true" sz="1799" i="true" spc="-53">
                <a:solidFill>
                  <a:srgbClr val="1B1B1B"/>
                </a:solidFill>
                <a:latin typeface="Helvetica World Bold Italics"/>
                <a:ea typeface="Helvetica World Bold Italics"/>
                <a:cs typeface="Helvetica World Bold Italics"/>
                <a:sym typeface="Helvetica World Bold Italics"/>
              </a:rPr>
              <a:t>Trend in Agentic AI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0403585" y="5485326"/>
            <a:ext cx="6855715" cy="3772974"/>
            <a:chOff x="0" y="0"/>
            <a:chExt cx="6350000" cy="3494659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350000" cy="3494659"/>
            </a:xfrm>
            <a:custGeom>
              <a:avLst/>
              <a:gdLst/>
              <a:ahLst/>
              <a:cxnLst/>
              <a:rect r="r" b="b" t="t" l="l"/>
              <a:pathLst>
                <a:path h="3494659" w="6350000">
                  <a:moveTo>
                    <a:pt x="1648460" y="0"/>
                  </a:moveTo>
                  <a:lnTo>
                    <a:pt x="5812790" y="0"/>
                  </a:lnTo>
                  <a:cubicBezTo>
                    <a:pt x="6109970" y="0"/>
                    <a:pt x="6350000" y="220090"/>
                    <a:pt x="6350000" y="492583"/>
                  </a:cubicBezTo>
                  <a:lnTo>
                    <a:pt x="6350000" y="2261455"/>
                  </a:lnTo>
                  <a:cubicBezTo>
                    <a:pt x="6350000" y="2533948"/>
                    <a:pt x="6109970" y="2754038"/>
                    <a:pt x="5812790" y="2754038"/>
                  </a:cubicBezTo>
                  <a:lnTo>
                    <a:pt x="4751070" y="2754038"/>
                  </a:lnTo>
                  <a:cubicBezTo>
                    <a:pt x="4587240" y="2754038"/>
                    <a:pt x="4431030" y="2822744"/>
                    <a:pt x="4329430" y="2941522"/>
                  </a:cubicBezTo>
                  <a:lnTo>
                    <a:pt x="4013200" y="3307175"/>
                  </a:lnTo>
                  <a:cubicBezTo>
                    <a:pt x="3911600" y="3424789"/>
                    <a:pt x="3756660" y="3494659"/>
                    <a:pt x="3591560" y="3494659"/>
                  </a:cubicBezTo>
                  <a:lnTo>
                    <a:pt x="537210" y="3494659"/>
                  </a:lnTo>
                  <a:cubicBezTo>
                    <a:pt x="240030" y="3494659"/>
                    <a:pt x="0" y="3274569"/>
                    <a:pt x="0" y="3002076"/>
                  </a:cubicBezTo>
                  <a:lnTo>
                    <a:pt x="0" y="1261152"/>
                  </a:lnTo>
                  <a:cubicBezTo>
                    <a:pt x="0" y="1106273"/>
                    <a:pt x="78740" y="960711"/>
                    <a:pt x="213360" y="867551"/>
                  </a:cubicBezTo>
                  <a:lnTo>
                    <a:pt x="1324610" y="98982"/>
                  </a:lnTo>
                  <a:cubicBezTo>
                    <a:pt x="1417320" y="34935"/>
                    <a:pt x="1531620" y="0"/>
                    <a:pt x="1648460" y="0"/>
                  </a:cubicBezTo>
                  <a:close/>
                </a:path>
              </a:pathLst>
            </a:custGeom>
            <a:blipFill>
              <a:blip r:embed="rId6"/>
              <a:stretch>
                <a:fillRect l="0" t="-10644" r="0" b="-10644"/>
              </a:stretch>
            </a:blipFill>
          </p:spPr>
        </p:sp>
      </p:grpSp>
      <p:sp>
        <p:nvSpPr>
          <p:cNvPr name="Freeform 28" id="28"/>
          <p:cNvSpPr/>
          <p:nvPr/>
        </p:nvSpPr>
        <p:spPr>
          <a:xfrm flipH="false" flipV="false" rot="0">
            <a:off x="8921895" y="2120937"/>
            <a:ext cx="636303" cy="636303"/>
          </a:xfrm>
          <a:custGeom>
            <a:avLst/>
            <a:gdLst/>
            <a:ahLst/>
            <a:cxnLst/>
            <a:rect r="r" b="b" t="t" l="l"/>
            <a:pathLst>
              <a:path h="636303" w="636303">
                <a:moveTo>
                  <a:pt x="0" y="0"/>
                </a:moveTo>
                <a:lnTo>
                  <a:pt x="636303" y="0"/>
                </a:lnTo>
                <a:lnTo>
                  <a:pt x="636303" y="636303"/>
                </a:lnTo>
                <a:lnTo>
                  <a:pt x="0" y="63630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true" flipV="false" rot="0">
            <a:off x="17037195" y="9085866"/>
            <a:ext cx="222105" cy="172434"/>
          </a:xfrm>
          <a:custGeom>
            <a:avLst/>
            <a:gdLst/>
            <a:ahLst/>
            <a:cxnLst/>
            <a:rect r="r" b="b" t="t" l="l"/>
            <a:pathLst>
              <a:path h="172434" w="222105">
                <a:moveTo>
                  <a:pt x="222105" y="0"/>
                </a:moveTo>
                <a:lnTo>
                  <a:pt x="0" y="0"/>
                </a:lnTo>
                <a:lnTo>
                  <a:pt x="0" y="172434"/>
                </a:lnTo>
                <a:lnTo>
                  <a:pt x="222105" y="172434"/>
                </a:lnTo>
                <a:lnTo>
                  <a:pt x="222105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04923" y="-148528"/>
            <a:ext cx="19097845" cy="1177228"/>
            <a:chOff x="0" y="0"/>
            <a:chExt cx="5029885" cy="31005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29885" cy="310052"/>
            </a:xfrm>
            <a:custGeom>
              <a:avLst/>
              <a:gdLst/>
              <a:ahLst/>
              <a:cxnLst/>
              <a:rect r="r" b="b" t="t" l="l"/>
              <a:pathLst>
                <a:path h="310052" w="5029885">
                  <a:moveTo>
                    <a:pt x="0" y="0"/>
                  </a:moveTo>
                  <a:lnTo>
                    <a:pt x="5029885" y="0"/>
                  </a:lnTo>
                  <a:lnTo>
                    <a:pt x="5029885" y="310052"/>
                  </a:lnTo>
                  <a:lnTo>
                    <a:pt x="0" y="310052"/>
                  </a:lnTo>
                  <a:close/>
                </a:path>
              </a:pathLst>
            </a:custGeom>
            <a:solidFill>
              <a:srgbClr val="1B1B1B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029885" cy="3481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997203" y="425242"/>
            <a:ext cx="262097" cy="174622"/>
          </a:xfrm>
          <a:custGeom>
            <a:avLst/>
            <a:gdLst/>
            <a:ahLst/>
            <a:cxnLst/>
            <a:rect r="r" b="b" t="t" l="l"/>
            <a:pathLst>
              <a:path h="174622" w="262097">
                <a:moveTo>
                  <a:pt x="0" y="0"/>
                </a:moveTo>
                <a:lnTo>
                  <a:pt x="262097" y="0"/>
                </a:lnTo>
                <a:lnTo>
                  <a:pt x="262097" y="174622"/>
                </a:lnTo>
                <a:lnTo>
                  <a:pt x="0" y="1746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315325" y="1907013"/>
            <a:ext cx="6303745" cy="7632436"/>
            <a:chOff x="0" y="0"/>
            <a:chExt cx="1680858" cy="203514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680858" cy="2035146"/>
            </a:xfrm>
            <a:custGeom>
              <a:avLst/>
              <a:gdLst/>
              <a:ahLst/>
              <a:cxnLst/>
              <a:rect r="r" b="b" t="t" l="l"/>
              <a:pathLst>
                <a:path h="2035146" w="1680858">
                  <a:moveTo>
                    <a:pt x="36844" y="0"/>
                  </a:moveTo>
                  <a:lnTo>
                    <a:pt x="1644013" y="0"/>
                  </a:lnTo>
                  <a:cubicBezTo>
                    <a:pt x="1664362" y="0"/>
                    <a:pt x="1680858" y="16496"/>
                    <a:pt x="1680858" y="36844"/>
                  </a:cubicBezTo>
                  <a:lnTo>
                    <a:pt x="1680858" y="1998301"/>
                  </a:lnTo>
                  <a:cubicBezTo>
                    <a:pt x="1680858" y="2018650"/>
                    <a:pt x="1664362" y="2035146"/>
                    <a:pt x="1644013" y="2035146"/>
                  </a:cubicBezTo>
                  <a:lnTo>
                    <a:pt x="36844" y="2035146"/>
                  </a:lnTo>
                  <a:cubicBezTo>
                    <a:pt x="16496" y="2035146"/>
                    <a:pt x="0" y="2018650"/>
                    <a:pt x="0" y="1998301"/>
                  </a:cubicBezTo>
                  <a:lnTo>
                    <a:pt x="0" y="36844"/>
                  </a:lnTo>
                  <a:cubicBezTo>
                    <a:pt x="0" y="16496"/>
                    <a:pt x="16496" y="0"/>
                    <a:pt x="36844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A6A6A6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680858" cy="20732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-5400000">
            <a:off x="4443677" y="1132701"/>
            <a:ext cx="47041" cy="2896078"/>
            <a:chOff x="0" y="0"/>
            <a:chExt cx="12543" cy="77222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543" cy="772223"/>
            </a:xfrm>
            <a:custGeom>
              <a:avLst/>
              <a:gdLst/>
              <a:ahLst/>
              <a:cxnLst/>
              <a:rect r="r" b="b" t="t" l="l"/>
              <a:pathLst>
                <a:path h="772223" w="12543">
                  <a:moveTo>
                    <a:pt x="6272" y="0"/>
                  </a:moveTo>
                  <a:lnTo>
                    <a:pt x="6272" y="0"/>
                  </a:lnTo>
                  <a:cubicBezTo>
                    <a:pt x="7935" y="0"/>
                    <a:pt x="9530" y="661"/>
                    <a:pt x="10706" y="1837"/>
                  </a:cubicBezTo>
                  <a:cubicBezTo>
                    <a:pt x="11882" y="3013"/>
                    <a:pt x="12543" y="4608"/>
                    <a:pt x="12543" y="6272"/>
                  </a:cubicBezTo>
                  <a:lnTo>
                    <a:pt x="12543" y="765951"/>
                  </a:lnTo>
                  <a:cubicBezTo>
                    <a:pt x="12543" y="767615"/>
                    <a:pt x="11882" y="769210"/>
                    <a:pt x="10706" y="770386"/>
                  </a:cubicBezTo>
                  <a:cubicBezTo>
                    <a:pt x="9530" y="771562"/>
                    <a:pt x="7935" y="772223"/>
                    <a:pt x="6272" y="772223"/>
                  </a:cubicBezTo>
                  <a:lnTo>
                    <a:pt x="6272" y="772223"/>
                  </a:lnTo>
                  <a:cubicBezTo>
                    <a:pt x="4608" y="772223"/>
                    <a:pt x="3013" y="771562"/>
                    <a:pt x="1837" y="770386"/>
                  </a:cubicBezTo>
                  <a:cubicBezTo>
                    <a:pt x="661" y="769210"/>
                    <a:pt x="0" y="767615"/>
                    <a:pt x="0" y="765951"/>
                  </a:cubicBezTo>
                  <a:lnTo>
                    <a:pt x="0" y="6272"/>
                  </a:lnTo>
                  <a:cubicBezTo>
                    <a:pt x="0" y="4608"/>
                    <a:pt x="661" y="3013"/>
                    <a:pt x="1837" y="1837"/>
                  </a:cubicBezTo>
                  <a:cubicBezTo>
                    <a:pt x="3013" y="661"/>
                    <a:pt x="4608" y="0"/>
                    <a:pt x="6272" y="0"/>
                  </a:cubicBezTo>
                  <a:close/>
                </a:path>
              </a:pathLst>
            </a:custGeom>
            <a:solidFill>
              <a:srgbClr val="A6A6A6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2543" cy="8103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2053987" y="9059530"/>
            <a:ext cx="219381" cy="170320"/>
          </a:xfrm>
          <a:custGeom>
            <a:avLst/>
            <a:gdLst/>
            <a:ahLst/>
            <a:cxnLst/>
            <a:rect r="r" b="b" t="t" l="l"/>
            <a:pathLst>
              <a:path h="170320" w="219381">
                <a:moveTo>
                  <a:pt x="0" y="0"/>
                </a:moveTo>
                <a:lnTo>
                  <a:pt x="219381" y="0"/>
                </a:lnTo>
                <a:lnTo>
                  <a:pt x="219381" y="170319"/>
                </a:lnTo>
                <a:lnTo>
                  <a:pt x="0" y="17031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true" flipV="false" rot="0">
            <a:off x="6661027" y="9059530"/>
            <a:ext cx="219381" cy="170320"/>
          </a:xfrm>
          <a:custGeom>
            <a:avLst/>
            <a:gdLst/>
            <a:ahLst/>
            <a:cxnLst/>
            <a:rect r="r" b="b" t="t" l="l"/>
            <a:pathLst>
              <a:path h="170320" w="219381">
                <a:moveTo>
                  <a:pt x="219381" y="0"/>
                </a:moveTo>
                <a:lnTo>
                  <a:pt x="0" y="0"/>
                </a:lnTo>
                <a:lnTo>
                  <a:pt x="0" y="170319"/>
                </a:lnTo>
                <a:lnTo>
                  <a:pt x="219381" y="170319"/>
                </a:lnTo>
                <a:lnTo>
                  <a:pt x="219381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true" rot="0">
            <a:off x="2053987" y="2538161"/>
            <a:ext cx="219381" cy="170320"/>
          </a:xfrm>
          <a:custGeom>
            <a:avLst/>
            <a:gdLst/>
            <a:ahLst/>
            <a:cxnLst/>
            <a:rect r="r" b="b" t="t" l="l"/>
            <a:pathLst>
              <a:path h="170320" w="219381">
                <a:moveTo>
                  <a:pt x="0" y="170319"/>
                </a:moveTo>
                <a:lnTo>
                  <a:pt x="219381" y="170319"/>
                </a:lnTo>
                <a:lnTo>
                  <a:pt x="219381" y="0"/>
                </a:lnTo>
                <a:lnTo>
                  <a:pt x="0" y="0"/>
                </a:lnTo>
                <a:lnTo>
                  <a:pt x="0" y="17031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true" flipV="true" rot="0">
            <a:off x="6661027" y="2538161"/>
            <a:ext cx="219381" cy="170320"/>
          </a:xfrm>
          <a:custGeom>
            <a:avLst/>
            <a:gdLst/>
            <a:ahLst/>
            <a:cxnLst/>
            <a:rect r="r" b="b" t="t" l="l"/>
            <a:pathLst>
              <a:path h="170320" w="219381">
                <a:moveTo>
                  <a:pt x="219381" y="170319"/>
                </a:moveTo>
                <a:lnTo>
                  <a:pt x="0" y="170319"/>
                </a:lnTo>
                <a:lnTo>
                  <a:pt x="0" y="0"/>
                </a:lnTo>
                <a:lnTo>
                  <a:pt x="219381" y="0"/>
                </a:lnTo>
                <a:lnTo>
                  <a:pt x="219381" y="17031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-5400000">
            <a:off x="4443677" y="7739230"/>
            <a:ext cx="47041" cy="2896078"/>
            <a:chOff x="0" y="0"/>
            <a:chExt cx="12543" cy="77222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2543" cy="772223"/>
            </a:xfrm>
            <a:custGeom>
              <a:avLst/>
              <a:gdLst/>
              <a:ahLst/>
              <a:cxnLst/>
              <a:rect r="r" b="b" t="t" l="l"/>
              <a:pathLst>
                <a:path h="772223" w="12543">
                  <a:moveTo>
                    <a:pt x="6272" y="0"/>
                  </a:moveTo>
                  <a:lnTo>
                    <a:pt x="6272" y="0"/>
                  </a:lnTo>
                  <a:cubicBezTo>
                    <a:pt x="7935" y="0"/>
                    <a:pt x="9530" y="661"/>
                    <a:pt x="10706" y="1837"/>
                  </a:cubicBezTo>
                  <a:cubicBezTo>
                    <a:pt x="11882" y="3013"/>
                    <a:pt x="12543" y="4608"/>
                    <a:pt x="12543" y="6272"/>
                  </a:cubicBezTo>
                  <a:lnTo>
                    <a:pt x="12543" y="765951"/>
                  </a:lnTo>
                  <a:cubicBezTo>
                    <a:pt x="12543" y="767615"/>
                    <a:pt x="11882" y="769210"/>
                    <a:pt x="10706" y="770386"/>
                  </a:cubicBezTo>
                  <a:cubicBezTo>
                    <a:pt x="9530" y="771562"/>
                    <a:pt x="7935" y="772223"/>
                    <a:pt x="6272" y="772223"/>
                  </a:cubicBezTo>
                  <a:lnTo>
                    <a:pt x="6272" y="772223"/>
                  </a:lnTo>
                  <a:cubicBezTo>
                    <a:pt x="4608" y="772223"/>
                    <a:pt x="3013" y="771562"/>
                    <a:pt x="1837" y="770386"/>
                  </a:cubicBezTo>
                  <a:cubicBezTo>
                    <a:pt x="661" y="769210"/>
                    <a:pt x="0" y="767615"/>
                    <a:pt x="0" y="765951"/>
                  </a:cubicBezTo>
                  <a:lnTo>
                    <a:pt x="0" y="6272"/>
                  </a:lnTo>
                  <a:cubicBezTo>
                    <a:pt x="0" y="4608"/>
                    <a:pt x="661" y="3013"/>
                    <a:pt x="1837" y="1837"/>
                  </a:cubicBezTo>
                  <a:cubicBezTo>
                    <a:pt x="3013" y="661"/>
                    <a:pt x="4608" y="0"/>
                    <a:pt x="6272" y="0"/>
                  </a:cubicBezTo>
                  <a:close/>
                </a:path>
              </a:pathLst>
            </a:custGeom>
            <a:solidFill>
              <a:srgbClr val="A6A6A6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2543" cy="8103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2123628" y="2116193"/>
            <a:ext cx="7400095" cy="5680929"/>
            <a:chOff x="0" y="0"/>
            <a:chExt cx="7477563" cy="57404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478833" cy="5741670"/>
            </a:xfrm>
            <a:custGeom>
              <a:avLst/>
              <a:gdLst/>
              <a:ahLst/>
              <a:cxnLst/>
              <a:rect r="r" b="b" t="t" l="l"/>
              <a:pathLst>
                <a:path h="5741670" w="7478833">
                  <a:moveTo>
                    <a:pt x="0" y="542290"/>
                  </a:moveTo>
                  <a:lnTo>
                    <a:pt x="0" y="2392680"/>
                  </a:lnTo>
                  <a:cubicBezTo>
                    <a:pt x="0" y="2691130"/>
                    <a:pt x="285643" y="2933700"/>
                    <a:pt x="638584" y="2933700"/>
                  </a:cubicBezTo>
                  <a:lnTo>
                    <a:pt x="1351943" y="2933700"/>
                  </a:lnTo>
                  <a:cubicBezTo>
                    <a:pt x="1704885" y="2933700"/>
                    <a:pt x="1990528" y="3176270"/>
                    <a:pt x="1990528" y="3475990"/>
                  </a:cubicBezTo>
                  <a:lnTo>
                    <a:pt x="1990528" y="5199380"/>
                  </a:lnTo>
                  <a:cubicBezTo>
                    <a:pt x="1990528" y="5499100"/>
                    <a:pt x="2276170" y="5741670"/>
                    <a:pt x="2629111" y="5741670"/>
                  </a:cubicBezTo>
                  <a:lnTo>
                    <a:pt x="4238283" y="5741670"/>
                  </a:lnTo>
                  <a:cubicBezTo>
                    <a:pt x="4398303" y="5741670"/>
                    <a:pt x="4553836" y="5689600"/>
                    <a:pt x="4671981" y="5598160"/>
                  </a:cubicBezTo>
                  <a:lnTo>
                    <a:pt x="7274174" y="3553460"/>
                  </a:lnTo>
                  <a:cubicBezTo>
                    <a:pt x="7404283" y="3450590"/>
                    <a:pt x="7478833" y="3307080"/>
                    <a:pt x="7478833" y="3155950"/>
                  </a:cubicBezTo>
                  <a:lnTo>
                    <a:pt x="7478833" y="542290"/>
                  </a:lnTo>
                  <a:cubicBezTo>
                    <a:pt x="7477563" y="242570"/>
                    <a:pt x="7191920" y="0"/>
                    <a:pt x="6838979" y="0"/>
                  </a:cubicBezTo>
                  <a:lnTo>
                    <a:pt x="638584" y="0"/>
                  </a:lnTo>
                  <a:cubicBezTo>
                    <a:pt x="285643" y="0"/>
                    <a:pt x="0" y="242570"/>
                    <a:pt x="0" y="542290"/>
                  </a:cubicBezTo>
                  <a:close/>
                </a:path>
              </a:pathLst>
            </a:custGeom>
            <a:blipFill>
              <a:blip r:embed="rId6"/>
              <a:stretch>
                <a:fillRect l="-7615" t="0" r="-7615" b="0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7809570" y="2188162"/>
            <a:ext cx="4124423" cy="2768495"/>
            <a:chOff x="0" y="0"/>
            <a:chExt cx="5677918" cy="381127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677918" cy="3811270"/>
            </a:xfrm>
            <a:custGeom>
              <a:avLst/>
              <a:gdLst/>
              <a:ahLst/>
              <a:cxnLst/>
              <a:rect r="r" b="b" t="t" l="l"/>
              <a:pathLst>
                <a:path h="3811270" w="5677918">
                  <a:moveTo>
                    <a:pt x="1473988" y="0"/>
                  </a:moveTo>
                  <a:lnTo>
                    <a:pt x="5197566" y="0"/>
                  </a:lnTo>
                  <a:cubicBezTo>
                    <a:pt x="5463293" y="0"/>
                    <a:pt x="5677918" y="240030"/>
                    <a:pt x="5677918" y="537210"/>
                  </a:cubicBezTo>
                  <a:lnTo>
                    <a:pt x="5677918" y="2466340"/>
                  </a:lnTo>
                  <a:cubicBezTo>
                    <a:pt x="5677918" y="2763520"/>
                    <a:pt x="5463293" y="3003550"/>
                    <a:pt x="5197566" y="3003550"/>
                  </a:cubicBezTo>
                  <a:lnTo>
                    <a:pt x="4248219" y="3003550"/>
                  </a:lnTo>
                  <a:cubicBezTo>
                    <a:pt x="4101728" y="3003550"/>
                    <a:pt x="3962051" y="3078480"/>
                    <a:pt x="3871204" y="3208020"/>
                  </a:cubicBezTo>
                  <a:lnTo>
                    <a:pt x="3588444" y="3606800"/>
                  </a:lnTo>
                  <a:cubicBezTo>
                    <a:pt x="3497598" y="3735070"/>
                    <a:pt x="3359056" y="3811270"/>
                    <a:pt x="3211430" y="3811270"/>
                  </a:cubicBezTo>
                  <a:lnTo>
                    <a:pt x="480352" y="3811270"/>
                  </a:lnTo>
                  <a:cubicBezTo>
                    <a:pt x="214625" y="3811270"/>
                    <a:pt x="0" y="3571240"/>
                    <a:pt x="0" y="3274060"/>
                  </a:cubicBezTo>
                  <a:lnTo>
                    <a:pt x="0" y="1375410"/>
                  </a:lnTo>
                  <a:cubicBezTo>
                    <a:pt x="0" y="1206500"/>
                    <a:pt x="70406" y="1047750"/>
                    <a:pt x="190778" y="946150"/>
                  </a:cubicBezTo>
                  <a:lnTo>
                    <a:pt x="1184414" y="107950"/>
                  </a:lnTo>
                  <a:cubicBezTo>
                    <a:pt x="1267311" y="38100"/>
                    <a:pt x="1369514" y="0"/>
                    <a:pt x="1473988" y="0"/>
                  </a:cubicBezTo>
                  <a:close/>
                </a:path>
              </a:pathLst>
            </a:custGeom>
            <a:blipFill>
              <a:blip r:embed="rId7"/>
              <a:stretch>
                <a:fillRect l="-374" t="0" r="-374" b="0"/>
              </a:stretch>
            </a:blip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9144000" y="6438137"/>
            <a:ext cx="9935570" cy="3114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598"/>
              </a:lnSpc>
            </a:pPr>
            <a:r>
              <a:rPr lang="en-US" sz="11598" spc="-788" b="true">
                <a:solidFill>
                  <a:srgbClr val="1B1B1B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Tools &amp; </a:t>
            </a:r>
          </a:p>
          <a:p>
            <a:pPr algn="l">
              <a:lnSpc>
                <a:spcPts val="11598"/>
              </a:lnSpc>
            </a:pPr>
            <a:r>
              <a:rPr lang="en-US" sz="11598" spc="-788" b="true">
                <a:solidFill>
                  <a:srgbClr val="1B1B1B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Frameworks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273368" y="4730668"/>
            <a:ext cx="4387659" cy="41228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83"/>
              </a:lnSpc>
            </a:pPr>
            <a:r>
              <a:rPr lang="en-US" sz="1876" spc="-56">
                <a:solidFill>
                  <a:srgbClr val="1B1B1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Deep Learning Frameworks</a:t>
            </a:r>
          </a:p>
          <a:p>
            <a:pPr algn="l" marL="405177" indent="-202589" lvl="1">
              <a:lnSpc>
                <a:spcPts val="2983"/>
              </a:lnSpc>
              <a:buFont typeface="Arial"/>
              <a:buChar char="•"/>
            </a:pPr>
            <a:r>
              <a:rPr lang="en-US" sz="1876" spc="-56">
                <a:solidFill>
                  <a:srgbClr val="1B1B1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PyTorch</a:t>
            </a:r>
          </a:p>
          <a:p>
            <a:pPr algn="l" marL="405177" indent="-202589" lvl="1">
              <a:lnSpc>
                <a:spcPts val="2983"/>
              </a:lnSpc>
              <a:buFont typeface="Arial"/>
              <a:buChar char="•"/>
            </a:pPr>
            <a:r>
              <a:rPr lang="en-US" sz="1876" spc="-56">
                <a:solidFill>
                  <a:srgbClr val="1B1B1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TensorFlow</a:t>
            </a:r>
          </a:p>
          <a:p>
            <a:pPr algn="l">
              <a:lnSpc>
                <a:spcPts val="2983"/>
              </a:lnSpc>
            </a:pPr>
            <a:r>
              <a:rPr lang="en-US" sz="1876" spc="-56">
                <a:solidFill>
                  <a:srgbClr val="1B1B1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Model Architectures</a:t>
            </a:r>
          </a:p>
          <a:p>
            <a:pPr algn="l" marL="405177" indent="-202589" lvl="1">
              <a:lnSpc>
                <a:spcPts val="2983"/>
              </a:lnSpc>
              <a:buFont typeface="Arial"/>
              <a:buChar char="•"/>
            </a:pPr>
            <a:r>
              <a:rPr lang="en-US" sz="1876" spc="-56">
                <a:solidFill>
                  <a:srgbClr val="1B1B1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Diffusion models</a:t>
            </a:r>
          </a:p>
          <a:p>
            <a:pPr algn="l" marL="405177" indent="-202589" lvl="1">
              <a:lnSpc>
                <a:spcPts val="2983"/>
              </a:lnSpc>
              <a:buFont typeface="Arial"/>
              <a:buChar char="•"/>
            </a:pPr>
            <a:r>
              <a:rPr lang="en-US" sz="1876" spc="-56">
                <a:solidFill>
                  <a:srgbClr val="1B1B1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Transformers</a:t>
            </a:r>
          </a:p>
          <a:p>
            <a:pPr algn="l" marL="405177" indent="-202589" lvl="1">
              <a:lnSpc>
                <a:spcPts val="2983"/>
              </a:lnSpc>
              <a:buFont typeface="Arial"/>
              <a:buChar char="•"/>
            </a:pPr>
            <a:r>
              <a:rPr lang="en-US" sz="1876" spc="-56">
                <a:solidFill>
                  <a:srgbClr val="1B1B1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Video diffusion pipelines</a:t>
            </a:r>
          </a:p>
          <a:p>
            <a:pPr algn="l">
              <a:lnSpc>
                <a:spcPts val="2983"/>
              </a:lnSpc>
            </a:pPr>
            <a:r>
              <a:rPr lang="en-US" sz="1876" spc="-56">
                <a:solidFill>
                  <a:srgbClr val="1B1B1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Supporting Libraries</a:t>
            </a:r>
          </a:p>
          <a:p>
            <a:pPr algn="l" marL="405177" indent="-202589" lvl="1">
              <a:lnSpc>
                <a:spcPts val="2983"/>
              </a:lnSpc>
              <a:buFont typeface="Arial"/>
              <a:buChar char="•"/>
            </a:pPr>
            <a:r>
              <a:rPr lang="en-US" sz="1876" spc="-56">
                <a:solidFill>
                  <a:srgbClr val="1B1B1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Hugging Face Transformers</a:t>
            </a:r>
          </a:p>
          <a:p>
            <a:pPr algn="l" marL="405177" indent="-202589" lvl="1">
              <a:lnSpc>
                <a:spcPts val="2983"/>
              </a:lnSpc>
              <a:buFont typeface="Arial"/>
              <a:buChar char="•"/>
            </a:pPr>
            <a:r>
              <a:rPr lang="en-US" sz="1876" spc="-56">
                <a:solidFill>
                  <a:srgbClr val="1B1B1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Diffusers</a:t>
            </a:r>
          </a:p>
          <a:p>
            <a:pPr algn="l" marL="405177" indent="-202589" lvl="1">
              <a:lnSpc>
                <a:spcPts val="2983"/>
              </a:lnSpc>
              <a:buFont typeface="Arial"/>
              <a:buChar char="•"/>
            </a:pPr>
            <a:r>
              <a:rPr lang="en-US" sz="1876" spc="-56">
                <a:solidFill>
                  <a:srgbClr val="1B1B1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OpenCV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273368" y="2731983"/>
            <a:ext cx="4387659" cy="1832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39"/>
              </a:lnSpc>
              <a:spcBef>
                <a:spcPct val="0"/>
              </a:spcBef>
            </a:pPr>
            <a:r>
              <a:rPr lang="en-US" sz="3457" spc="-224">
                <a:solidFill>
                  <a:srgbClr val="A6A6A6"/>
                </a:solidFill>
                <a:latin typeface="Telegraf"/>
                <a:ea typeface="Telegraf"/>
                <a:cs typeface="Telegraf"/>
                <a:sym typeface="Telegraf"/>
              </a:rPr>
              <a:t>Common technologies behind systems like Seedance:</a:t>
            </a:r>
          </a:p>
        </p:txBody>
      </p:sp>
      <p:sp>
        <p:nvSpPr>
          <p:cNvPr name="Freeform 26" id="26"/>
          <p:cNvSpPr/>
          <p:nvPr/>
        </p:nvSpPr>
        <p:spPr>
          <a:xfrm flipH="false" flipV="false" rot="0">
            <a:off x="8178652" y="5257447"/>
            <a:ext cx="636303" cy="636303"/>
          </a:xfrm>
          <a:custGeom>
            <a:avLst/>
            <a:gdLst/>
            <a:ahLst/>
            <a:cxnLst/>
            <a:rect r="r" b="b" t="t" l="l"/>
            <a:pathLst>
              <a:path h="636303" w="636303">
                <a:moveTo>
                  <a:pt x="0" y="0"/>
                </a:moveTo>
                <a:lnTo>
                  <a:pt x="636303" y="0"/>
                </a:lnTo>
                <a:lnTo>
                  <a:pt x="636303" y="636303"/>
                </a:lnTo>
                <a:lnTo>
                  <a:pt x="0" y="63630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04923" y="-148528"/>
            <a:ext cx="19097845" cy="1177228"/>
            <a:chOff x="0" y="0"/>
            <a:chExt cx="5029885" cy="31005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29885" cy="310052"/>
            </a:xfrm>
            <a:custGeom>
              <a:avLst/>
              <a:gdLst/>
              <a:ahLst/>
              <a:cxnLst/>
              <a:rect r="r" b="b" t="t" l="l"/>
              <a:pathLst>
                <a:path h="310052" w="5029885">
                  <a:moveTo>
                    <a:pt x="0" y="0"/>
                  </a:moveTo>
                  <a:lnTo>
                    <a:pt x="5029885" y="0"/>
                  </a:lnTo>
                  <a:lnTo>
                    <a:pt x="5029885" y="310052"/>
                  </a:lnTo>
                  <a:lnTo>
                    <a:pt x="0" y="310052"/>
                  </a:lnTo>
                  <a:close/>
                </a:path>
              </a:pathLst>
            </a:custGeom>
            <a:solidFill>
              <a:srgbClr val="1B1B1B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029885" cy="3481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997203" y="425242"/>
            <a:ext cx="262097" cy="174622"/>
          </a:xfrm>
          <a:custGeom>
            <a:avLst/>
            <a:gdLst/>
            <a:ahLst/>
            <a:cxnLst/>
            <a:rect r="r" b="b" t="t" l="l"/>
            <a:pathLst>
              <a:path h="174622" w="262097">
                <a:moveTo>
                  <a:pt x="0" y="0"/>
                </a:moveTo>
                <a:lnTo>
                  <a:pt x="262097" y="0"/>
                </a:lnTo>
                <a:lnTo>
                  <a:pt x="262097" y="174622"/>
                </a:lnTo>
                <a:lnTo>
                  <a:pt x="0" y="1746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028700" y="3500466"/>
            <a:ext cx="5913027" cy="2663126"/>
            <a:chOff x="0" y="0"/>
            <a:chExt cx="8459470" cy="3810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459470" cy="3808730"/>
            </a:xfrm>
            <a:custGeom>
              <a:avLst/>
              <a:gdLst/>
              <a:ahLst/>
              <a:cxnLst/>
              <a:rect r="r" b="b" t="t" l="l"/>
              <a:pathLst>
                <a:path h="3808730" w="8459470">
                  <a:moveTo>
                    <a:pt x="458470" y="0"/>
                  </a:moveTo>
                  <a:lnTo>
                    <a:pt x="8001000" y="0"/>
                  </a:lnTo>
                  <a:cubicBezTo>
                    <a:pt x="8255000" y="0"/>
                    <a:pt x="8459470" y="205740"/>
                    <a:pt x="8459470" y="458470"/>
                  </a:cubicBezTo>
                  <a:lnTo>
                    <a:pt x="8459470" y="2320290"/>
                  </a:lnTo>
                  <a:cubicBezTo>
                    <a:pt x="8459470" y="2451100"/>
                    <a:pt x="8403590" y="2576830"/>
                    <a:pt x="8304530" y="2663190"/>
                  </a:cubicBezTo>
                  <a:lnTo>
                    <a:pt x="7141210" y="3693160"/>
                  </a:lnTo>
                  <a:cubicBezTo>
                    <a:pt x="7057390" y="3768090"/>
                    <a:pt x="6949440" y="3808730"/>
                    <a:pt x="6836410" y="3808730"/>
                  </a:cubicBezTo>
                  <a:lnTo>
                    <a:pt x="3760470" y="3808730"/>
                  </a:lnTo>
                  <a:cubicBezTo>
                    <a:pt x="3506470" y="3808730"/>
                    <a:pt x="3302000" y="3602990"/>
                    <a:pt x="3302000" y="3350260"/>
                  </a:cubicBezTo>
                  <a:lnTo>
                    <a:pt x="3302000" y="3227070"/>
                  </a:lnTo>
                  <a:cubicBezTo>
                    <a:pt x="3302000" y="2973070"/>
                    <a:pt x="3096260" y="2768600"/>
                    <a:pt x="2843530" y="2768600"/>
                  </a:cubicBezTo>
                  <a:lnTo>
                    <a:pt x="458470" y="2768600"/>
                  </a:lnTo>
                  <a:cubicBezTo>
                    <a:pt x="205740" y="2768600"/>
                    <a:pt x="0" y="2562860"/>
                    <a:pt x="0" y="2310130"/>
                  </a:cubicBezTo>
                  <a:lnTo>
                    <a:pt x="0" y="458470"/>
                  </a:lnTo>
                  <a:cubicBezTo>
                    <a:pt x="0" y="205740"/>
                    <a:pt x="205740" y="0"/>
                    <a:pt x="458470" y="0"/>
                  </a:cubicBezTo>
                  <a:close/>
                </a:path>
              </a:pathLst>
            </a:custGeom>
            <a:blipFill>
              <a:blip r:embed="rId4"/>
              <a:stretch>
                <a:fillRect l="-9371" t="-6215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028700" y="2313733"/>
            <a:ext cx="13594401" cy="2153403"/>
            <a:chOff x="0" y="0"/>
            <a:chExt cx="3891598" cy="61644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891598" cy="616443"/>
            </a:xfrm>
            <a:custGeom>
              <a:avLst/>
              <a:gdLst/>
              <a:ahLst/>
              <a:cxnLst/>
              <a:rect r="r" b="b" t="t" l="l"/>
              <a:pathLst>
                <a:path h="616443" w="3891598">
                  <a:moveTo>
                    <a:pt x="17085" y="0"/>
                  </a:moveTo>
                  <a:lnTo>
                    <a:pt x="3874513" y="0"/>
                  </a:lnTo>
                  <a:cubicBezTo>
                    <a:pt x="3879044" y="0"/>
                    <a:pt x="3883390" y="1800"/>
                    <a:pt x="3886594" y="5004"/>
                  </a:cubicBezTo>
                  <a:cubicBezTo>
                    <a:pt x="3889798" y="8208"/>
                    <a:pt x="3891598" y="12554"/>
                    <a:pt x="3891598" y="17085"/>
                  </a:cubicBezTo>
                  <a:lnTo>
                    <a:pt x="3891598" y="599359"/>
                  </a:lnTo>
                  <a:cubicBezTo>
                    <a:pt x="3891598" y="608794"/>
                    <a:pt x="3883949" y="616443"/>
                    <a:pt x="3874513" y="616443"/>
                  </a:cubicBezTo>
                  <a:lnTo>
                    <a:pt x="17085" y="616443"/>
                  </a:lnTo>
                  <a:cubicBezTo>
                    <a:pt x="12554" y="616443"/>
                    <a:pt x="8208" y="614643"/>
                    <a:pt x="5004" y="611439"/>
                  </a:cubicBezTo>
                  <a:cubicBezTo>
                    <a:pt x="1800" y="608235"/>
                    <a:pt x="0" y="603890"/>
                    <a:pt x="0" y="599359"/>
                  </a:cubicBezTo>
                  <a:lnTo>
                    <a:pt x="0" y="17085"/>
                  </a:lnTo>
                  <a:cubicBezTo>
                    <a:pt x="0" y="12554"/>
                    <a:pt x="1800" y="8208"/>
                    <a:pt x="5004" y="5004"/>
                  </a:cubicBezTo>
                  <a:cubicBezTo>
                    <a:pt x="8208" y="1800"/>
                    <a:pt x="12554" y="0"/>
                    <a:pt x="17085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A6A6A6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891598" cy="6545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5439722" y="2964976"/>
            <a:ext cx="636303" cy="636303"/>
          </a:xfrm>
          <a:custGeom>
            <a:avLst/>
            <a:gdLst/>
            <a:ahLst/>
            <a:cxnLst/>
            <a:rect r="r" b="b" t="t" l="l"/>
            <a:pathLst>
              <a:path h="636303" w="636303">
                <a:moveTo>
                  <a:pt x="0" y="0"/>
                </a:moveTo>
                <a:lnTo>
                  <a:pt x="636303" y="0"/>
                </a:lnTo>
                <a:lnTo>
                  <a:pt x="636303" y="636304"/>
                </a:lnTo>
                <a:lnTo>
                  <a:pt x="0" y="63630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6970914" y="2453770"/>
            <a:ext cx="43817" cy="1822485"/>
            <a:chOff x="0" y="0"/>
            <a:chExt cx="12543" cy="52171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543" cy="521713"/>
            </a:xfrm>
            <a:custGeom>
              <a:avLst/>
              <a:gdLst/>
              <a:ahLst/>
              <a:cxnLst/>
              <a:rect r="r" b="b" t="t" l="l"/>
              <a:pathLst>
                <a:path h="521713" w="12543">
                  <a:moveTo>
                    <a:pt x="6272" y="0"/>
                  </a:moveTo>
                  <a:lnTo>
                    <a:pt x="6272" y="0"/>
                  </a:lnTo>
                  <a:cubicBezTo>
                    <a:pt x="7935" y="0"/>
                    <a:pt x="9530" y="661"/>
                    <a:pt x="10706" y="1837"/>
                  </a:cubicBezTo>
                  <a:cubicBezTo>
                    <a:pt x="11882" y="3013"/>
                    <a:pt x="12543" y="4608"/>
                    <a:pt x="12543" y="6272"/>
                  </a:cubicBezTo>
                  <a:lnTo>
                    <a:pt x="12543" y="515442"/>
                  </a:lnTo>
                  <a:cubicBezTo>
                    <a:pt x="12543" y="517105"/>
                    <a:pt x="11882" y="518700"/>
                    <a:pt x="10706" y="519876"/>
                  </a:cubicBezTo>
                  <a:cubicBezTo>
                    <a:pt x="9530" y="521052"/>
                    <a:pt x="7935" y="521713"/>
                    <a:pt x="6272" y="521713"/>
                  </a:cubicBezTo>
                  <a:lnTo>
                    <a:pt x="6272" y="521713"/>
                  </a:lnTo>
                  <a:cubicBezTo>
                    <a:pt x="4608" y="521713"/>
                    <a:pt x="3013" y="521052"/>
                    <a:pt x="1837" y="519876"/>
                  </a:cubicBezTo>
                  <a:cubicBezTo>
                    <a:pt x="661" y="518700"/>
                    <a:pt x="0" y="517105"/>
                    <a:pt x="0" y="515442"/>
                  </a:cubicBezTo>
                  <a:lnTo>
                    <a:pt x="0" y="6272"/>
                  </a:lnTo>
                  <a:cubicBezTo>
                    <a:pt x="0" y="4608"/>
                    <a:pt x="661" y="3013"/>
                    <a:pt x="1837" y="1837"/>
                  </a:cubicBezTo>
                  <a:cubicBezTo>
                    <a:pt x="3013" y="661"/>
                    <a:pt x="4608" y="0"/>
                    <a:pt x="6272" y="0"/>
                  </a:cubicBezTo>
                  <a:close/>
                </a:path>
              </a:pathLst>
            </a:custGeom>
            <a:solidFill>
              <a:srgbClr val="A6A6A6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2543" cy="5598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2400497" y="6363558"/>
            <a:ext cx="4305386" cy="1830598"/>
            <a:chOff x="0" y="0"/>
            <a:chExt cx="1003145" cy="42652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03145" cy="426525"/>
            </a:xfrm>
            <a:custGeom>
              <a:avLst/>
              <a:gdLst/>
              <a:ahLst/>
              <a:cxnLst/>
              <a:rect r="r" b="b" t="t" l="l"/>
              <a:pathLst>
                <a:path h="426525" w="1003145">
                  <a:moveTo>
                    <a:pt x="53946" y="0"/>
                  </a:moveTo>
                  <a:lnTo>
                    <a:pt x="949199" y="0"/>
                  </a:lnTo>
                  <a:cubicBezTo>
                    <a:pt x="963506" y="0"/>
                    <a:pt x="977228" y="5684"/>
                    <a:pt x="987344" y="15800"/>
                  </a:cubicBezTo>
                  <a:cubicBezTo>
                    <a:pt x="997461" y="25917"/>
                    <a:pt x="1003145" y="39639"/>
                    <a:pt x="1003145" y="53946"/>
                  </a:cubicBezTo>
                  <a:lnTo>
                    <a:pt x="1003145" y="372579"/>
                  </a:lnTo>
                  <a:cubicBezTo>
                    <a:pt x="1003145" y="386887"/>
                    <a:pt x="997461" y="400608"/>
                    <a:pt x="987344" y="410725"/>
                  </a:cubicBezTo>
                  <a:cubicBezTo>
                    <a:pt x="977228" y="420842"/>
                    <a:pt x="963506" y="426525"/>
                    <a:pt x="949199" y="426525"/>
                  </a:cubicBezTo>
                  <a:lnTo>
                    <a:pt x="53946" y="426525"/>
                  </a:lnTo>
                  <a:cubicBezTo>
                    <a:pt x="39639" y="426525"/>
                    <a:pt x="25917" y="420842"/>
                    <a:pt x="15800" y="410725"/>
                  </a:cubicBezTo>
                  <a:cubicBezTo>
                    <a:pt x="5684" y="400608"/>
                    <a:pt x="0" y="386887"/>
                    <a:pt x="0" y="372579"/>
                  </a:cubicBezTo>
                  <a:lnTo>
                    <a:pt x="0" y="53946"/>
                  </a:lnTo>
                  <a:cubicBezTo>
                    <a:pt x="0" y="39639"/>
                    <a:pt x="5684" y="25917"/>
                    <a:pt x="15800" y="15800"/>
                  </a:cubicBezTo>
                  <a:cubicBezTo>
                    <a:pt x="25917" y="5684"/>
                    <a:pt x="39639" y="0"/>
                    <a:pt x="53946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A6A6A6"/>
              </a:solidFill>
              <a:prstDash val="solid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003145" cy="4646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7142781" y="4558177"/>
            <a:ext cx="8479534" cy="3635979"/>
            <a:chOff x="0" y="0"/>
            <a:chExt cx="2087755" cy="89521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087755" cy="895218"/>
            </a:xfrm>
            <a:custGeom>
              <a:avLst/>
              <a:gdLst/>
              <a:ahLst/>
              <a:cxnLst/>
              <a:rect r="r" b="b" t="t" l="l"/>
              <a:pathLst>
                <a:path h="895218" w="2087755">
                  <a:moveTo>
                    <a:pt x="27390" y="0"/>
                  </a:moveTo>
                  <a:lnTo>
                    <a:pt x="2060364" y="0"/>
                  </a:lnTo>
                  <a:cubicBezTo>
                    <a:pt x="2067629" y="0"/>
                    <a:pt x="2074596" y="2886"/>
                    <a:pt x="2079732" y="8022"/>
                  </a:cubicBezTo>
                  <a:cubicBezTo>
                    <a:pt x="2084869" y="13159"/>
                    <a:pt x="2087755" y="20126"/>
                    <a:pt x="2087755" y="27390"/>
                  </a:cubicBezTo>
                  <a:lnTo>
                    <a:pt x="2087755" y="867828"/>
                  </a:lnTo>
                  <a:cubicBezTo>
                    <a:pt x="2087755" y="882955"/>
                    <a:pt x="2075492" y="895218"/>
                    <a:pt x="2060364" y="895218"/>
                  </a:cubicBezTo>
                  <a:lnTo>
                    <a:pt x="27390" y="895218"/>
                  </a:lnTo>
                  <a:cubicBezTo>
                    <a:pt x="20126" y="895218"/>
                    <a:pt x="13159" y="892332"/>
                    <a:pt x="8022" y="887196"/>
                  </a:cubicBezTo>
                  <a:cubicBezTo>
                    <a:pt x="2886" y="882059"/>
                    <a:pt x="0" y="875092"/>
                    <a:pt x="0" y="867828"/>
                  </a:cubicBezTo>
                  <a:lnTo>
                    <a:pt x="0" y="27390"/>
                  </a:lnTo>
                  <a:cubicBezTo>
                    <a:pt x="0" y="20126"/>
                    <a:pt x="2886" y="13159"/>
                    <a:pt x="8022" y="8022"/>
                  </a:cubicBezTo>
                  <a:cubicBezTo>
                    <a:pt x="13159" y="2886"/>
                    <a:pt x="20126" y="0"/>
                    <a:pt x="27390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A6A6A6"/>
              </a:solidFill>
              <a:prstDash val="solid"/>
              <a:round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2087755" cy="9333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727260" y="2561419"/>
            <a:ext cx="4978623" cy="1773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37"/>
              </a:lnSpc>
            </a:pPr>
            <a:r>
              <a:rPr lang="en-US" sz="3312" spc="-215">
                <a:solidFill>
                  <a:srgbClr val="A6A6A6"/>
                </a:solidFill>
                <a:latin typeface="Telegraf"/>
                <a:ea typeface="Telegraf"/>
                <a:cs typeface="Telegraf"/>
                <a:sym typeface="Telegraf"/>
              </a:rPr>
              <a:t>Seedance like models are integrated into creative AI platforms : 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404443" y="2567418"/>
            <a:ext cx="5265979" cy="15475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37681" indent="-168840" lvl="1">
              <a:lnSpc>
                <a:spcPts val="2486"/>
              </a:lnSpc>
              <a:buFont typeface="Arial"/>
              <a:buChar char="•"/>
            </a:pPr>
            <a:r>
              <a:rPr lang="en-US" sz="1564" spc="-46">
                <a:solidFill>
                  <a:srgbClr val="1B1B1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TikTok</a:t>
            </a:r>
          </a:p>
          <a:p>
            <a:pPr algn="l" marL="337681" indent="-168840" lvl="1">
              <a:lnSpc>
                <a:spcPts val="2486"/>
              </a:lnSpc>
              <a:buFont typeface="Arial"/>
              <a:buChar char="•"/>
            </a:pPr>
            <a:r>
              <a:rPr lang="en-US" sz="1564" spc="-46">
                <a:solidFill>
                  <a:srgbClr val="1B1B1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Runway Gen‑2</a:t>
            </a:r>
          </a:p>
          <a:p>
            <a:pPr algn="l" marL="337681" indent="-168840" lvl="1">
              <a:lnSpc>
                <a:spcPts val="2486"/>
              </a:lnSpc>
              <a:buFont typeface="Arial"/>
              <a:buChar char="•"/>
            </a:pPr>
            <a:r>
              <a:rPr lang="en-US" sz="1564" spc="-46">
                <a:solidFill>
                  <a:srgbClr val="1B1B1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Pika</a:t>
            </a:r>
          </a:p>
          <a:p>
            <a:pPr algn="l" marL="337681" indent="-168840" lvl="1">
              <a:lnSpc>
                <a:spcPts val="2486"/>
              </a:lnSpc>
              <a:buFont typeface="Arial"/>
              <a:buChar char="•"/>
            </a:pPr>
            <a:r>
              <a:rPr lang="en-US" sz="1564" spc="-46">
                <a:solidFill>
                  <a:srgbClr val="1B1B1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Sora</a:t>
            </a:r>
          </a:p>
          <a:p>
            <a:pPr algn="l">
              <a:lnSpc>
                <a:spcPts val="2486"/>
              </a:lnSpc>
            </a:pPr>
            <a:r>
              <a:rPr lang="en-US" sz="1564" spc="-46">
                <a:solidFill>
                  <a:srgbClr val="1B1B1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These tools aim to automate video production and storytelling.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476219" y="4769348"/>
            <a:ext cx="5945473" cy="3084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b="true" sz="1925" i="true" spc="-57">
                <a:solidFill>
                  <a:srgbClr val="1B1B1B"/>
                </a:solidFill>
                <a:latin typeface="Helvetica World Bold Italics"/>
                <a:ea typeface="Helvetica World Bold Italics"/>
                <a:cs typeface="Helvetica World Bold Italics"/>
                <a:sym typeface="Helvetica World Bold Italics"/>
              </a:rPr>
              <a:t>Difference between Seedance 1.0 and Seedance 2.0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476219" y="5172799"/>
            <a:ext cx="7923151" cy="27480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19558" indent="-159779" lvl="1">
              <a:lnSpc>
                <a:spcPts val="2353"/>
              </a:lnSpc>
              <a:buFont typeface="Arial"/>
              <a:buChar char="•"/>
            </a:pPr>
            <a:r>
              <a:rPr lang="en-US" b="true" sz="1480" i="true" spc="-44">
                <a:solidFill>
                  <a:srgbClr val="1B1B1B"/>
                </a:solidFill>
                <a:latin typeface="Helvetica World Bold Italics"/>
                <a:ea typeface="Helvetica World Bold Italics"/>
                <a:cs typeface="Helvetica World Bold Italics"/>
                <a:sym typeface="Helvetica World Bold Italics"/>
              </a:rPr>
              <a:t>V</a:t>
            </a:r>
            <a:r>
              <a:rPr lang="en-US" b="true" sz="1480" i="true" spc="-44">
                <a:solidFill>
                  <a:srgbClr val="1B1B1B"/>
                </a:solidFill>
                <a:latin typeface="Helvetica World Bold Italics"/>
                <a:ea typeface="Helvetica World Bold Italics"/>
                <a:cs typeface="Helvetica World Bold Italics"/>
                <a:sym typeface="Helvetica World Bold Italics"/>
              </a:rPr>
              <a:t>ideo Q</a:t>
            </a:r>
            <a:r>
              <a:rPr lang="en-US" b="true" sz="1480" i="true" spc="-44">
                <a:solidFill>
                  <a:srgbClr val="1B1B1B"/>
                </a:solidFill>
                <a:latin typeface="Helvetica World Bold Italics"/>
                <a:ea typeface="Helvetica World Bold Italics"/>
                <a:cs typeface="Helvetica World Bold Italics"/>
                <a:sym typeface="Helvetica World Bold Italics"/>
              </a:rPr>
              <a:t>uality </a:t>
            </a:r>
            <a:r>
              <a:rPr lang="en-US" sz="1480" spc="-44">
                <a:solidFill>
                  <a:srgbClr val="1B1B1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: Seedance 2.0 generates </a:t>
            </a:r>
            <a:r>
              <a:rPr lang="en-US" b="true" sz="1480" spc="-44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more cinematic and realistic videos</a:t>
            </a:r>
            <a:r>
              <a:rPr lang="en-US" sz="1480" spc="-44">
                <a:solidFill>
                  <a:srgbClr val="1B1B1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than Seedance 1.0.</a:t>
            </a:r>
          </a:p>
          <a:p>
            <a:pPr algn="l" marL="319558" indent="-159779" lvl="1">
              <a:lnSpc>
                <a:spcPts val="2353"/>
              </a:lnSpc>
              <a:buFont typeface="Arial"/>
              <a:buChar char="•"/>
            </a:pPr>
            <a:r>
              <a:rPr lang="en-US" b="true" sz="1480" i="true" spc="-44">
                <a:solidFill>
                  <a:srgbClr val="1B1B1B"/>
                </a:solidFill>
                <a:latin typeface="Helvetica World Bold Italics"/>
                <a:ea typeface="Helvetica World Bold Italics"/>
                <a:cs typeface="Helvetica World Bold Italics"/>
                <a:sym typeface="Helvetica World Bold Italics"/>
              </a:rPr>
              <a:t>Motion Consistency </a:t>
            </a:r>
            <a:r>
              <a:rPr lang="en-US" sz="1480" spc="-44">
                <a:solidFill>
                  <a:srgbClr val="1B1B1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: Seedance 2.0 provides </a:t>
            </a:r>
            <a:r>
              <a:rPr lang="en-US" b="true" sz="1480" spc="-44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smoother and more natural motion</a:t>
            </a:r>
            <a:r>
              <a:rPr lang="en-US" sz="1480" spc="-44">
                <a:solidFill>
                  <a:srgbClr val="1B1B1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.</a:t>
            </a:r>
          </a:p>
          <a:p>
            <a:pPr algn="l" marL="319558" indent="-159779" lvl="1">
              <a:lnSpc>
                <a:spcPts val="2353"/>
              </a:lnSpc>
              <a:buFont typeface="Arial"/>
              <a:buChar char="•"/>
            </a:pPr>
            <a:r>
              <a:rPr lang="en-US" b="true" sz="1480" i="true" spc="-44">
                <a:solidFill>
                  <a:srgbClr val="1B1B1B"/>
                </a:solidFill>
                <a:latin typeface="Helvetica World Bold Italics"/>
                <a:ea typeface="Helvetica World Bold Italics"/>
                <a:cs typeface="Helvetica World Bold Italics"/>
                <a:sym typeface="Helvetica World Bold Italics"/>
              </a:rPr>
              <a:t>Audio </a:t>
            </a:r>
            <a:r>
              <a:rPr lang="en-US" b="true" sz="1480" i="true" spc="-44">
                <a:solidFill>
                  <a:srgbClr val="1B1B1B"/>
                </a:solidFill>
                <a:latin typeface="Helvetica World Bold Italics"/>
                <a:ea typeface="Helvetica World Bold Italics"/>
                <a:cs typeface="Helvetica World Bold Italics"/>
                <a:sym typeface="Helvetica World Bold Italics"/>
              </a:rPr>
              <a:t>Support :</a:t>
            </a:r>
            <a:r>
              <a:rPr lang="en-US" sz="1480" spc="-44">
                <a:solidFill>
                  <a:srgbClr val="1B1B1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Seedance 2.0 </a:t>
            </a:r>
            <a:r>
              <a:rPr lang="en-US" b="true" sz="1480" spc="-44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supports native audio-video generation</a:t>
            </a:r>
            <a:r>
              <a:rPr lang="en-US" sz="1480" spc="-44">
                <a:solidFill>
                  <a:srgbClr val="1B1B1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, unlike 1.0.</a:t>
            </a:r>
          </a:p>
          <a:p>
            <a:pPr algn="l" marL="319558" indent="-159779" lvl="1">
              <a:lnSpc>
                <a:spcPts val="2353"/>
              </a:lnSpc>
              <a:buFont typeface="Arial"/>
              <a:buChar char="•"/>
            </a:pPr>
            <a:r>
              <a:rPr lang="en-US" b="true" sz="1480" i="true" spc="-44">
                <a:solidFill>
                  <a:srgbClr val="1B1B1B"/>
                </a:solidFill>
                <a:latin typeface="Helvetica World Bold Italics"/>
                <a:ea typeface="Helvetica World Bold Italics"/>
                <a:cs typeface="Helvetica World Bold Italics"/>
                <a:sym typeface="Helvetica World Bold Italics"/>
              </a:rPr>
              <a:t>Resolution :</a:t>
            </a:r>
            <a:r>
              <a:rPr lang="en-US" sz="1480" spc="-44">
                <a:solidFill>
                  <a:srgbClr val="1B1B1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Seedance 2.0 supports </a:t>
            </a:r>
            <a:r>
              <a:rPr lang="en-US" b="true" sz="1480" spc="-44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higher resolution</a:t>
            </a:r>
            <a:r>
              <a:rPr lang="en-US" sz="1480" spc="-44">
                <a:solidFill>
                  <a:srgbClr val="1B1B1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(up to ~2K).</a:t>
            </a:r>
          </a:p>
          <a:p>
            <a:pPr algn="l" marL="319558" indent="-159779" lvl="1">
              <a:lnSpc>
                <a:spcPts val="2353"/>
              </a:lnSpc>
              <a:buFont typeface="Arial"/>
              <a:buChar char="•"/>
            </a:pPr>
            <a:r>
              <a:rPr lang="en-US" b="true" sz="1480" i="true" spc="-44">
                <a:solidFill>
                  <a:srgbClr val="1B1B1B"/>
                </a:solidFill>
                <a:latin typeface="Helvetica World Bold Italics"/>
                <a:ea typeface="Helvetica World Bold Italics"/>
                <a:cs typeface="Helvetica World Bold Italics"/>
                <a:sym typeface="Helvetica World Bold Italics"/>
              </a:rPr>
              <a:t>Multimodal Inputs :</a:t>
            </a:r>
            <a:r>
              <a:rPr lang="en-US" sz="1480" spc="-44">
                <a:solidFill>
                  <a:srgbClr val="1B1B1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Seedance 2.0 supports text, image, video, and audio inputs, while 1.0 mainly used text.</a:t>
            </a:r>
          </a:p>
          <a:p>
            <a:pPr algn="l" marL="319558" indent="-159779" lvl="1">
              <a:lnSpc>
                <a:spcPts val="2353"/>
              </a:lnSpc>
              <a:buFont typeface="Arial"/>
              <a:buChar char="•"/>
            </a:pPr>
            <a:r>
              <a:rPr lang="en-US" b="true" sz="1480" i="true" spc="-44">
                <a:solidFill>
                  <a:srgbClr val="1B1B1B"/>
                </a:solidFill>
                <a:latin typeface="Helvetica World Bold Italics"/>
                <a:ea typeface="Helvetica World Bold Italics"/>
                <a:cs typeface="Helvetica World Bold Italics"/>
                <a:sym typeface="Helvetica World Bold Italics"/>
              </a:rPr>
              <a:t>Control &amp; Understanding :</a:t>
            </a:r>
            <a:r>
              <a:rPr lang="en-US" sz="1480" spc="-44">
                <a:solidFill>
                  <a:srgbClr val="1B1B1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Seedance 2.0 has </a:t>
            </a:r>
            <a:r>
              <a:rPr lang="en-US" b="true" sz="1480" spc="-44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better prompt understanding</a:t>
            </a:r>
            <a:r>
              <a:rPr lang="en-US" sz="1480" spc="-44">
                <a:solidFill>
                  <a:srgbClr val="1B1B1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and </a:t>
            </a:r>
            <a:r>
              <a:rPr lang="en-US" b="true" sz="1480" spc="-44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advanced cinematic control.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644815" y="6373506"/>
            <a:ext cx="1836036" cy="16436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3"/>
              </a:lnSpc>
            </a:pPr>
            <a:r>
              <a:rPr lang="en-US" sz="2331" spc="-151">
                <a:solidFill>
                  <a:srgbClr val="A6A6A6"/>
                </a:solidFill>
                <a:latin typeface="Telegraf"/>
                <a:ea typeface="Telegraf"/>
                <a:cs typeface="Telegraf"/>
                <a:sym typeface="Telegraf"/>
              </a:rPr>
              <a:t>Major competing video models include :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4771905" y="6509168"/>
            <a:ext cx="1793761" cy="13913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12303" indent="-156152" lvl="1">
              <a:lnSpc>
                <a:spcPts val="2299"/>
              </a:lnSpc>
              <a:buFont typeface="Arial"/>
              <a:buChar char="•"/>
            </a:pPr>
            <a:r>
              <a:rPr lang="en-US" sz="1446" spc="-43">
                <a:solidFill>
                  <a:srgbClr val="1B1B1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</a:t>
            </a:r>
            <a:r>
              <a:rPr lang="en-US" sz="1446" spc="-43">
                <a:solidFill>
                  <a:srgbClr val="1B1B1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ora</a:t>
            </a:r>
          </a:p>
          <a:p>
            <a:pPr algn="l" marL="312303" indent="-156152" lvl="1">
              <a:lnSpc>
                <a:spcPts val="2299"/>
              </a:lnSpc>
              <a:buFont typeface="Arial"/>
              <a:buChar char="•"/>
            </a:pPr>
            <a:r>
              <a:rPr lang="en-US" sz="1446" spc="-43">
                <a:solidFill>
                  <a:srgbClr val="1B1B1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Runway Gen-2</a:t>
            </a:r>
          </a:p>
          <a:p>
            <a:pPr algn="l" marL="312303" indent="-156152" lvl="1">
              <a:lnSpc>
                <a:spcPts val="2299"/>
              </a:lnSpc>
              <a:buFont typeface="Arial"/>
              <a:buChar char="•"/>
            </a:pPr>
            <a:r>
              <a:rPr lang="en-US" sz="1446" spc="-43">
                <a:solidFill>
                  <a:srgbClr val="1B1B1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Pika</a:t>
            </a:r>
          </a:p>
          <a:p>
            <a:pPr algn="l" marL="312303" indent="-156152" lvl="1">
              <a:lnSpc>
                <a:spcPts val="2299"/>
              </a:lnSpc>
              <a:buFont typeface="Arial"/>
              <a:buChar char="•"/>
            </a:pPr>
            <a:r>
              <a:rPr lang="en-US" sz="1446" spc="-43">
                <a:solidFill>
                  <a:srgbClr val="1B1B1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V</a:t>
            </a:r>
            <a:r>
              <a:rPr lang="en-US" sz="1446" spc="-43">
                <a:solidFill>
                  <a:srgbClr val="1B1B1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eo</a:t>
            </a:r>
          </a:p>
          <a:p>
            <a:pPr algn="l" marL="312303" indent="-156152" lvl="1">
              <a:lnSpc>
                <a:spcPts val="2299"/>
              </a:lnSpc>
              <a:buFont typeface="Arial"/>
              <a:buChar char="•"/>
            </a:pPr>
            <a:r>
              <a:rPr lang="en-US" sz="1446" spc="-43">
                <a:solidFill>
                  <a:srgbClr val="1B1B1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Kling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4528334" y="6449706"/>
            <a:ext cx="48136" cy="1567458"/>
            <a:chOff x="0" y="0"/>
            <a:chExt cx="13780" cy="448708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3780" cy="448708"/>
            </a:xfrm>
            <a:custGeom>
              <a:avLst/>
              <a:gdLst/>
              <a:ahLst/>
              <a:cxnLst/>
              <a:rect r="r" b="b" t="t" l="l"/>
              <a:pathLst>
                <a:path h="448708" w="13780">
                  <a:moveTo>
                    <a:pt x="6890" y="0"/>
                  </a:moveTo>
                  <a:lnTo>
                    <a:pt x="6890" y="0"/>
                  </a:lnTo>
                  <a:cubicBezTo>
                    <a:pt x="8717" y="0"/>
                    <a:pt x="10470" y="726"/>
                    <a:pt x="11762" y="2018"/>
                  </a:cubicBezTo>
                  <a:cubicBezTo>
                    <a:pt x="13054" y="3310"/>
                    <a:pt x="13780" y="5063"/>
                    <a:pt x="13780" y="6890"/>
                  </a:cubicBezTo>
                  <a:lnTo>
                    <a:pt x="13780" y="441818"/>
                  </a:lnTo>
                  <a:cubicBezTo>
                    <a:pt x="13780" y="443645"/>
                    <a:pt x="13054" y="445398"/>
                    <a:pt x="11762" y="446690"/>
                  </a:cubicBezTo>
                  <a:cubicBezTo>
                    <a:pt x="10470" y="447982"/>
                    <a:pt x="8717" y="448708"/>
                    <a:pt x="6890" y="448708"/>
                  </a:cubicBezTo>
                  <a:lnTo>
                    <a:pt x="6890" y="448708"/>
                  </a:lnTo>
                  <a:cubicBezTo>
                    <a:pt x="5063" y="448708"/>
                    <a:pt x="3310" y="447982"/>
                    <a:pt x="2018" y="446690"/>
                  </a:cubicBezTo>
                  <a:cubicBezTo>
                    <a:pt x="726" y="445398"/>
                    <a:pt x="0" y="443645"/>
                    <a:pt x="0" y="441818"/>
                  </a:cubicBezTo>
                  <a:lnTo>
                    <a:pt x="0" y="6890"/>
                  </a:lnTo>
                  <a:cubicBezTo>
                    <a:pt x="0" y="5063"/>
                    <a:pt x="726" y="3310"/>
                    <a:pt x="2018" y="2018"/>
                  </a:cubicBezTo>
                  <a:cubicBezTo>
                    <a:pt x="3310" y="726"/>
                    <a:pt x="5063" y="0"/>
                    <a:pt x="6890" y="0"/>
                  </a:cubicBezTo>
                  <a:close/>
                </a:path>
              </a:pathLst>
            </a:custGeom>
            <a:solidFill>
              <a:srgbClr val="A6A6A6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13780" cy="4868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7199461" y="8471526"/>
            <a:ext cx="7846802" cy="6523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37680" indent="-168840" lvl="1">
              <a:lnSpc>
                <a:spcPts val="2815"/>
              </a:lnSpc>
              <a:buFont typeface="Arial"/>
              <a:buChar char="•"/>
            </a:pPr>
            <a:r>
              <a:rPr lang="en-US" sz="1564" spc="-46">
                <a:solidFill>
                  <a:srgbClr val="1B1B1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Seedance 1.0 </a:t>
            </a:r>
            <a:r>
              <a:rPr lang="en-US" sz="1564" spc="-46">
                <a:solidFill>
                  <a:srgbClr val="1B1B1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is</a:t>
            </a:r>
            <a:r>
              <a:rPr lang="en-US" sz="1564" spc="-46">
                <a:solidFill>
                  <a:srgbClr val="1B1B1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estimated to have tens to hundreds of billions of parameters.</a:t>
            </a:r>
          </a:p>
          <a:p>
            <a:pPr algn="l" marL="337680" indent="-168840" lvl="1">
              <a:lnSpc>
                <a:spcPts val="2815"/>
              </a:lnSpc>
              <a:buFont typeface="Arial"/>
              <a:buChar char="•"/>
            </a:pPr>
            <a:r>
              <a:rPr lang="en-US" sz="1564" spc="-46">
                <a:solidFill>
                  <a:srgbClr val="1B1B1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It is smaller than Seedance 2.0, which is estimated to be around ~1 trillion parameters.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7142781" y="8422821"/>
            <a:ext cx="56681" cy="835479"/>
            <a:chOff x="0" y="0"/>
            <a:chExt cx="14928" cy="220044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4928" cy="220044"/>
            </a:xfrm>
            <a:custGeom>
              <a:avLst/>
              <a:gdLst/>
              <a:ahLst/>
              <a:cxnLst/>
              <a:rect r="r" b="b" t="t" l="l"/>
              <a:pathLst>
                <a:path h="220044" w="14928">
                  <a:moveTo>
                    <a:pt x="7464" y="0"/>
                  </a:moveTo>
                  <a:lnTo>
                    <a:pt x="7464" y="0"/>
                  </a:lnTo>
                  <a:cubicBezTo>
                    <a:pt x="11586" y="0"/>
                    <a:pt x="14928" y="3342"/>
                    <a:pt x="14928" y="7464"/>
                  </a:cubicBezTo>
                  <a:lnTo>
                    <a:pt x="14928" y="212580"/>
                  </a:lnTo>
                  <a:cubicBezTo>
                    <a:pt x="14928" y="216702"/>
                    <a:pt x="11586" y="220044"/>
                    <a:pt x="7464" y="220044"/>
                  </a:cubicBezTo>
                  <a:lnTo>
                    <a:pt x="7464" y="220044"/>
                  </a:lnTo>
                  <a:cubicBezTo>
                    <a:pt x="3342" y="220044"/>
                    <a:pt x="0" y="216702"/>
                    <a:pt x="0" y="212580"/>
                  </a:cubicBezTo>
                  <a:lnTo>
                    <a:pt x="0" y="7464"/>
                  </a:lnTo>
                  <a:cubicBezTo>
                    <a:pt x="0" y="3342"/>
                    <a:pt x="3342" y="0"/>
                    <a:pt x="7464" y="0"/>
                  </a:cubicBezTo>
                  <a:close/>
                </a:path>
              </a:pathLst>
            </a:custGeom>
            <a:solidFill>
              <a:srgbClr val="A6A6A6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14928" cy="2581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>
            <a:hlinkClick action="ppaction://media"/>
          </p:cNvPr>
          <p:cNvPicPr>
            <a:picLocks noChangeAspect="true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2351867" y="1978668"/>
            <a:ext cx="13584267" cy="7689207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5005816" y="458251"/>
            <a:ext cx="8276368" cy="16471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598"/>
              </a:lnSpc>
            </a:pPr>
            <a:r>
              <a:rPr lang="en-US" sz="11598" spc="-788">
                <a:solidFill>
                  <a:srgbClr val="1B1B1B"/>
                </a:solidFill>
                <a:latin typeface="Telegraf"/>
                <a:ea typeface="Telegraf"/>
                <a:cs typeface="Telegraf"/>
                <a:sym typeface="Telegraf"/>
              </a:rPr>
              <a:t>Demo Video 1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>
            <a:hlinkClick action="ppaction://media"/>
          </p:cNvPr>
          <p:cNvPicPr>
            <a:picLocks noChangeAspect="true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2234901" y="1931978"/>
            <a:ext cx="13818198" cy="7821622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5005816" y="458251"/>
            <a:ext cx="8718822" cy="16471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598"/>
              </a:lnSpc>
            </a:pPr>
            <a:r>
              <a:rPr lang="en-US" sz="11598" spc="-788">
                <a:solidFill>
                  <a:srgbClr val="1B1B1B"/>
                </a:solidFill>
                <a:latin typeface="Telegraf"/>
                <a:ea typeface="Telegraf"/>
                <a:cs typeface="Telegraf"/>
                <a:sym typeface="Telegraf"/>
              </a:rPr>
              <a:t>Demo Video 2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04923" y="-148528"/>
            <a:ext cx="19097845" cy="1177228"/>
            <a:chOff x="0" y="0"/>
            <a:chExt cx="5029885" cy="31005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29885" cy="310052"/>
            </a:xfrm>
            <a:custGeom>
              <a:avLst/>
              <a:gdLst/>
              <a:ahLst/>
              <a:cxnLst/>
              <a:rect r="r" b="b" t="t" l="l"/>
              <a:pathLst>
                <a:path h="310052" w="5029885">
                  <a:moveTo>
                    <a:pt x="0" y="0"/>
                  </a:moveTo>
                  <a:lnTo>
                    <a:pt x="5029885" y="0"/>
                  </a:lnTo>
                  <a:lnTo>
                    <a:pt x="5029885" y="310052"/>
                  </a:lnTo>
                  <a:lnTo>
                    <a:pt x="0" y="310052"/>
                  </a:lnTo>
                  <a:close/>
                </a:path>
              </a:pathLst>
            </a:custGeom>
            <a:solidFill>
              <a:srgbClr val="1B1B1B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029885" cy="3481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997203" y="425242"/>
            <a:ext cx="262097" cy="174622"/>
          </a:xfrm>
          <a:custGeom>
            <a:avLst/>
            <a:gdLst/>
            <a:ahLst/>
            <a:cxnLst/>
            <a:rect r="r" b="b" t="t" l="l"/>
            <a:pathLst>
              <a:path h="174622" w="262097">
                <a:moveTo>
                  <a:pt x="0" y="0"/>
                </a:moveTo>
                <a:lnTo>
                  <a:pt x="262097" y="0"/>
                </a:lnTo>
                <a:lnTo>
                  <a:pt x="262097" y="174622"/>
                </a:lnTo>
                <a:lnTo>
                  <a:pt x="0" y="1746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-5400000">
            <a:off x="12268088" y="1974872"/>
            <a:ext cx="47625" cy="10156905"/>
            <a:chOff x="0" y="0"/>
            <a:chExt cx="12543" cy="267507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543" cy="2675069"/>
            </a:xfrm>
            <a:custGeom>
              <a:avLst/>
              <a:gdLst/>
              <a:ahLst/>
              <a:cxnLst/>
              <a:rect r="r" b="b" t="t" l="l"/>
              <a:pathLst>
                <a:path h="2675069" w="12543">
                  <a:moveTo>
                    <a:pt x="6272" y="0"/>
                  </a:moveTo>
                  <a:lnTo>
                    <a:pt x="6272" y="0"/>
                  </a:lnTo>
                  <a:cubicBezTo>
                    <a:pt x="7935" y="0"/>
                    <a:pt x="9530" y="661"/>
                    <a:pt x="10706" y="1837"/>
                  </a:cubicBezTo>
                  <a:cubicBezTo>
                    <a:pt x="11882" y="3013"/>
                    <a:pt x="12543" y="4608"/>
                    <a:pt x="12543" y="6272"/>
                  </a:cubicBezTo>
                  <a:lnTo>
                    <a:pt x="12543" y="2668798"/>
                  </a:lnTo>
                  <a:cubicBezTo>
                    <a:pt x="12543" y="2670461"/>
                    <a:pt x="11882" y="2672056"/>
                    <a:pt x="10706" y="2673233"/>
                  </a:cubicBezTo>
                  <a:cubicBezTo>
                    <a:pt x="9530" y="2674409"/>
                    <a:pt x="7935" y="2675069"/>
                    <a:pt x="6272" y="2675069"/>
                  </a:cubicBezTo>
                  <a:lnTo>
                    <a:pt x="6272" y="2675069"/>
                  </a:lnTo>
                  <a:cubicBezTo>
                    <a:pt x="4608" y="2675069"/>
                    <a:pt x="3013" y="2674409"/>
                    <a:pt x="1837" y="2673233"/>
                  </a:cubicBezTo>
                  <a:cubicBezTo>
                    <a:pt x="661" y="2672056"/>
                    <a:pt x="0" y="2670461"/>
                    <a:pt x="0" y="2668798"/>
                  </a:cubicBezTo>
                  <a:lnTo>
                    <a:pt x="0" y="6272"/>
                  </a:lnTo>
                  <a:cubicBezTo>
                    <a:pt x="0" y="4608"/>
                    <a:pt x="661" y="3013"/>
                    <a:pt x="1837" y="1837"/>
                  </a:cubicBezTo>
                  <a:cubicBezTo>
                    <a:pt x="3013" y="661"/>
                    <a:pt x="4608" y="0"/>
                    <a:pt x="6272" y="0"/>
                  </a:cubicBezTo>
                  <a:close/>
                </a:path>
              </a:pathLst>
            </a:custGeom>
            <a:solidFill>
              <a:srgbClr val="A6A6A6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2543" cy="27131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7102395" y="6334186"/>
            <a:ext cx="222105" cy="172434"/>
          </a:xfrm>
          <a:custGeom>
            <a:avLst/>
            <a:gdLst/>
            <a:ahLst/>
            <a:cxnLst/>
            <a:rect r="r" b="b" t="t" l="l"/>
            <a:pathLst>
              <a:path h="172434" w="222105">
                <a:moveTo>
                  <a:pt x="0" y="0"/>
                </a:moveTo>
                <a:lnTo>
                  <a:pt x="222105" y="0"/>
                </a:lnTo>
                <a:lnTo>
                  <a:pt x="222105" y="172434"/>
                </a:lnTo>
                <a:lnTo>
                  <a:pt x="0" y="1724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true" rot="0">
            <a:off x="7102395" y="2454241"/>
            <a:ext cx="222105" cy="172434"/>
          </a:xfrm>
          <a:custGeom>
            <a:avLst/>
            <a:gdLst/>
            <a:ahLst/>
            <a:cxnLst/>
            <a:rect r="r" b="b" t="t" l="l"/>
            <a:pathLst>
              <a:path h="172434" w="222105">
                <a:moveTo>
                  <a:pt x="0" y="172434"/>
                </a:moveTo>
                <a:lnTo>
                  <a:pt x="222105" y="172434"/>
                </a:lnTo>
                <a:lnTo>
                  <a:pt x="222105" y="0"/>
                </a:lnTo>
                <a:lnTo>
                  <a:pt x="0" y="0"/>
                </a:lnTo>
                <a:lnTo>
                  <a:pt x="0" y="17243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false" rot="0">
            <a:off x="17037195" y="6334186"/>
            <a:ext cx="222105" cy="172434"/>
          </a:xfrm>
          <a:custGeom>
            <a:avLst/>
            <a:gdLst/>
            <a:ahLst/>
            <a:cxnLst/>
            <a:rect r="r" b="b" t="t" l="l"/>
            <a:pathLst>
              <a:path h="172434" w="222105">
                <a:moveTo>
                  <a:pt x="222105" y="0"/>
                </a:moveTo>
                <a:lnTo>
                  <a:pt x="0" y="0"/>
                </a:lnTo>
                <a:lnTo>
                  <a:pt x="0" y="172434"/>
                </a:lnTo>
                <a:lnTo>
                  <a:pt x="222105" y="172434"/>
                </a:lnTo>
                <a:lnTo>
                  <a:pt x="222105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true" flipV="true" rot="0">
            <a:off x="17037195" y="2454241"/>
            <a:ext cx="222105" cy="172434"/>
          </a:xfrm>
          <a:custGeom>
            <a:avLst/>
            <a:gdLst/>
            <a:ahLst/>
            <a:cxnLst/>
            <a:rect r="r" b="b" t="t" l="l"/>
            <a:pathLst>
              <a:path h="172434" w="222105">
                <a:moveTo>
                  <a:pt x="222105" y="172434"/>
                </a:moveTo>
                <a:lnTo>
                  <a:pt x="0" y="172434"/>
                </a:lnTo>
                <a:lnTo>
                  <a:pt x="0" y="0"/>
                </a:lnTo>
                <a:lnTo>
                  <a:pt x="222105" y="0"/>
                </a:lnTo>
                <a:lnTo>
                  <a:pt x="222105" y="17243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1028700" y="2454241"/>
            <a:ext cx="4406308" cy="6804059"/>
            <a:chOff x="0" y="0"/>
            <a:chExt cx="4112260" cy="6350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11226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112260">
                  <a:moveTo>
                    <a:pt x="4112260" y="623570"/>
                  </a:moveTo>
                  <a:lnTo>
                    <a:pt x="4112260" y="2641600"/>
                  </a:lnTo>
                  <a:cubicBezTo>
                    <a:pt x="4112260" y="2821940"/>
                    <a:pt x="4033520" y="2993390"/>
                    <a:pt x="3897630" y="3112770"/>
                  </a:cubicBezTo>
                  <a:cubicBezTo>
                    <a:pt x="3761740" y="3230880"/>
                    <a:pt x="3683000" y="3402330"/>
                    <a:pt x="3683000" y="3583940"/>
                  </a:cubicBezTo>
                  <a:lnTo>
                    <a:pt x="3683000" y="5726430"/>
                  </a:lnTo>
                  <a:cubicBezTo>
                    <a:pt x="3683000" y="6070600"/>
                    <a:pt x="3403600" y="6350000"/>
                    <a:pt x="3059430" y="6350000"/>
                  </a:cubicBezTo>
                  <a:lnTo>
                    <a:pt x="623570" y="6350000"/>
                  </a:lnTo>
                  <a:cubicBezTo>
                    <a:pt x="279400" y="6350000"/>
                    <a:pt x="0" y="6070600"/>
                    <a:pt x="0" y="5726430"/>
                  </a:cubicBezTo>
                  <a:lnTo>
                    <a:pt x="0" y="623570"/>
                  </a:lnTo>
                  <a:cubicBezTo>
                    <a:pt x="0" y="279400"/>
                    <a:pt x="279400" y="0"/>
                    <a:pt x="623570" y="0"/>
                  </a:cubicBezTo>
                  <a:lnTo>
                    <a:pt x="3489960" y="0"/>
                  </a:lnTo>
                  <a:cubicBezTo>
                    <a:pt x="3834130" y="0"/>
                    <a:pt x="4112260" y="279400"/>
                    <a:pt x="4112260" y="623570"/>
                  </a:cubicBezTo>
                  <a:close/>
                </a:path>
              </a:pathLst>
            </a:custGeom>
            <a:blipFill>
              <a:blip r:embed="rId6"/>
              <a:stretch>
                <a:fillRect l="-7906" t="0" r="-7906" b="0"/>
              </a:stretch>
            </a:blip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7213448" y="7509865"/>
            <a:ext cx="10156905" cy="1430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60"/>
              </a:lnSpc>
            </a:pPr>
            <a:r>
              <a:rPr lang="en-US" b="true" sz="10060" spc="-684">
                <a:solidFill>
                  <a:srgbClr val="1B1B1B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Thank you !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324500" y="2557841"/>
            <a:ext cx="9712695" cy="3709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  <a:spcBef>
                <a:spcPct val="0"/>
              </a:spcBef>
            </a:pPr>
            <a:r>
              <a:rPr lang="en-US" sz="4200" spc="-273">
                <a:solidFill>
                  <a:srgbClr val="A6A6A6"/>
                </a:solidFill>
                <a:latin typeface="Telegraf"/>
                <a:ea typeface="Telegraf"/>
                <a:cs typeface="Telegraf"/>
                <a:sym typeface="Telegraf"/>
              </a:rPr>
              <a:t>Seedance 2.0 represents the next wave of Generative AI where multimodal foundation models and agentic workflows enable automatic cinematic video creation from simple prompts.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5435008" y="8621997"/>
            <a:ext cx="636303" cy="636303"/>
          </a:xfrm>
          <a:custGeom>
            <a:avLst/>
            <a:gdLst/>
            <a:ahLst/>
            <a:cxnLst/>
            <a:rect r="r" b="b" t="t" l="l"/>
            <a:pathLst>
              <a:path h="636303" w="636303">
                <a:moveTo>
                  <a:pt x="0" y="0"/>
                </a:moveTo>
                <a:lnTo>
                  <a:pt x="636304" y="0"/>
                </a:lnTo>
                <a:lnTo>
                  <a:pt x="636304" y="636303"/>
                </a:lnTo>
                <a:lnTo>
                  <a:pt x="0" y="63630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DAHDXcxAMIU</dc:identifier>
  <dcterms:modified xsi:type="dcterms:W3CDTF">2011-08-01T06:04:30Z</dcterms:modified>
  <cp:revision>1</cp:revision>
  <dc:title>Seedance 2.0</dc:title>
</cp:coreProperties>
</file>